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1" r:id="rId3"/>
    <p:sldId id="258" r:id="rId4"/>
    <p:sldId id="259" r:id="rId5"/>
    <p:sldId id="260" r:id="rId6"/>
    <p:sldId id="272" r:id="rId7"/>
    <p:sldId id="273" r:id="rId8"/>
    <p:sldId id="274" r:id="rId9"/>
    <p:sldId id="275" r:id="rId10"/>
    <p:sldId id="261" r:id="rId11"/>
    <p:sldId id="262" r:id="rId12"/>
    <p:sldId id="276" r:id="rId13"/>
    <p:sldId id="277" r:id="rId14"/>
    <p:sldId id="278" r:id="rId15"/>
    <p:sldId id="279" r:id="rId16"/>
    <p:sldId id="264" r:id="rId17"/>
    <p:sldId id="263" r:id="rId18"/>
    <p:sldId id="266" r:id="rId19"/>
    <p:sldId id="267" r:id="rId20"/>
    <p:sldId id="280" r:id="rId21"/>
    <p:sldId id="268" r:id="rId22"/>
    <p:sldId id="269" r:id="rId23"/>
    <p:sldId id="270" r:id="rId24"/>
    <p:sldId id="271"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1336" y="-6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ZA"/>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ZA"/>
          </a:p>
        </p:txBody>
      </p:sp>
      <p:sp>
        <p:nvSpPr>
          <p:cNvPr id="4" name="Date Placeholder 3"/>
          <p:cNvSpPr>
            <a:spLocks noGrp="1"/>
          </p:cNvSpPr>
          <p:nvPr>
            <p:ph type="dt" sz="half" idx="10"/>
          </p:nvPr>
        </p:nvSpPr>
        <p:spPr/>
        <p:txBody>
          <a:bodyPr/>
          <a:lstStyle/>
          <a:p>
            <a:fld id="{5DBA4BB3-0841-4D42-84DF-0283B17BD43A}" type="datetimeFigureOut">
              <a:rPr lang="en-ZA" smtClean="0"/>
              <a:t>2025/11/01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0289AE93-6B67-40AE-BB4A-218448CDA777}" type="slidenum">
              <a:rPr lang="en-ZA" smtClean="0"/>
              <a:t>‹#›</a:t>
            </a:fld>
            <a:endParaRPr lang="en-ZA"/>
          </a:p>
        </p:txBody>
      </p:sp>
    </p:spTree>
    <p:extLst>
      <p:ext uri="{BB962C8B-B14F-4D97-AF65-F5344CB8AC3E}">
        <p14:creationId xmlns:p14="http://schemas.microsoft.com/office/powerpoint/2010/main" val="1867140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ZA"/>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Date Placeholder 3"/>
          <p:cNvSpPr>
            <a:spLocks noGrp="1"/>
          </p:cNvSpPr>
          <p:nvPr>
            <p:ph type="dt" sz="half" idx="10"/>
          </p:nvPr>
        </p:nvSpPr>
        <p:spPr/>
        <p:txBody>
          <a:bodyPr/>
          <a:lstStyle/>
          <a:p>
            <a:fld id="{5DBA4BB3-0841-4D42-84DF-0283B17BD43A}" type="datetimeFigureOut">
              <a:rPr lang="en-ZA" smtClean="0"/>
              <a:t>2025/11/01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0289AE93-6B67-40AE-BB4A-218448CDA777}" type="slidenum">
              <a:rPr lang="en-ZA" smtClean="0"/>
              <a:t>‹#›</a:t>
            </a:fld>
            <a:endParaRPr lang="en-ZA"/>
          </a:p>
        </p:txBody>
      </p:sp>
    </p:spTree>
    <p:extLst>
      <p:ext uri="{BB962C8B-B14F-4D97-AF65-F5344CB8AC3E}">
        <p14:creationId xmlns:p14="http://schemas.microsoft.com/office/powerpoint/2010/main" val="5612143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ZA"/>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DBA4BB3-0841-4D42-84DF-0283B17BD43A}" type="datetimeFigureOut">
              <a:rPr lang="en-ZA" smtClean="0"/>
              <a:t>2025/11/01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0289AE93-6B67-40AE-BB4A-218448CDA777}" type="slidenum">
              <a:rPr lang="en-ZA" smtClean="0"/>
              <a:t>‹#›</a:t>
            </a:fld>
            <a:endParaRPr lang="en-ZA"/>
          </a:p>
        </p:txBody>
      </p:sp>
    </p:spTree>
    <p:extLst>
      <p:ext uri="{BB962C8B-B14F-4D97-AF65-F5344CB8AC3E}">
        <p14:creationId xmlns:p14="http://schemas.microsoft.com/office/powerpoint/2010/main" val="30787866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ZA"/>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5" name="Date Placeholder 4"/>
          <p:cNvSpPr>
            <a:spLocks noGrp="1"/>
          </p:cNvSpPr>
          <p:nvPr>
            <p:ph type="dt" sz="half" idx="10"/>
          </p:nvPr>
        </p:nvSpPr>
        <p:spPr/>
        <p:txBody>
          <a:bodyPr/>
          <a:lstStyle/>
          <a:p>
            <a:fld id="{5DBA4BB3-0841-4D42-84DF-0283B17BD43A}" type="datetimeFigureOut">
              <a:rPr lang="en-ZA" smtClean="0"/>
              <a:t>2025/11/01</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0289AE93-6B67-40AE-BB4A-218448CDA777}" type="slidenum">
              <a:rPr lang="en-ZA" smtClean="0"/>
              <a:t>‹#›</a:t>
            </a:fld>
            <a:endParaRPr lang="en-ZA"/>
          </a:p>
        </p:txBody>
      </p:sp>
    </p:spTree>
    <p:extLst>
      <p:ext uri="{BB962C8B-B14F-4D97-AF65-F5344CB8AC3E}">
        <p14:creationId xmlns:p14="http://schemas.microsoft.com/office/powerpoint/2010/main" val="2370117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ZA"/>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7" name="Date Placeholder 6"/>
          <p:cNvSpPr>
            <a:spLocks noGrp="1"/>
          </p:cNvSpPr>
          <p:nvPr>
            <p:ph type="dt" sz="half" idx="10"/>
          </p:nvPr>
        </p:nvSpPr>
        <p:spPr/>
        <p:txBody>
          <a:bodyPr/>
          <a:lstStyle/>
          <a:p>
            <a:fld id="{5DBA4BB3-0841-4D42-84DF-0283B17BD43A}" type="datetimeFigureOut">
              <a:rPr lang="en-ZA" smtClean="0"/>
              <a:t>2025/11/01</a:t>
            </a:fld>
            <a:endParaRPr lang="en-ZA"/>
          </a:p>
        </p:txBody>
      </p:sp>
      <p:sp>
        <p:nvSpPr>
          <p:cNvPr id="8" name="Footer Placeholder 7"/>
          <p:cNvSpPr>
            <a:spLocks noGrp="1"/>
          </p:cNvSpPr>
          <p:nvPr>
            <p:ph type="ftr" sz="quarter" idx="11"/>
          </p:nvPr>
        </p:nvSpPr>
        <p:spPr/>
        <p:txBody>
          <a:bodyPr/>
          <a:lstStyle/>
          <a:p>
            <a:endParaRPr lang="en-ZA"/>
          </a:p>
        </p:txBody>
      </p:sp>
      <p:sp>
        <p:nvSpPr>
          <p:cNvPr id="9" name="Slide Number Placeholder 8"/>
          <p:cNvSpPr>
            <a:spLocks noGrp="1"/>
          </p:cNvSpPr>
          <p:nvPr>
            <p:ph type="sldNum" sz="quarter" idx="12"/>
          </p:nvPr>
        </p:nvSpPr>
        <p:spPr/>
        <p:txBody>
          <a:bodyPr/>
          <a:lstStyle/>
          <a:p>
            <a:fld id="{0289AE93-6B67-40AE-BB4A-218448CDA777}" type="slidenum">
              <a:rPr lang="en-ZA" smtClean="0"/>
              <a:t>‹#›</a:t>
            </a:fld>
            <a:endParaRPr lang="en-ZA"/>
          </a:p>
        </p:txBody>
      </p:sp>
    </p:spTree>
    <p:extLst>
      <p:ext uri="{BB962C8B-B14F-4D97-AF65-F5344CB8AC3E}">
        <p14:creationId xmlns:p14="http://schemas.microsoft.com/office/powerpoint/2010/main" val="11601659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ZA"/>
          </a:p>
        </p:txBody>
      </p:sp>
      <p:sp>
        <p:nvSpPr>
          <p:cNvPr id="3" name="Date Placeholder 2"/>
          <p:cNvSpPr>
            <a:spLocks noGrp="1"/>
          </p:cNvSpPr>
          <p:nvPr>
            <p:ph type="dt" sz="half" idx="10"/>
          </p:nvPr>
        </p:nvSpPr>
        <p:spPr/>
        <p:txBody>
          <a:bodyPr/>
          <a:lstStyle/>
          <a:p>
            <a:fld id="{5DBA4BB3-0841-4D42-84DF-0283B17BD43A}" type="datetimeFigureOut">
              <a:rPr lang="en-ZA" smtClean="0"/>
              <a:t>2025/11/01</a:t>
            </a:fld>
            <a:endParaRPr lang="en-ZA"/>
          </a:p>
        </p:txBody>
      </p:sp>
      <p:sp>
        <p:nvSpPr>
          <p:cNvPr id="4" name="Footer Placeholder 3"/>
          <p:cNvSpPr>
            <a:spLocks noGrp="1"/>
          </p:cNvSpPr>
          <p:nvPr>
            <p:ph type="ftr" sz="quarter" idx="11"/>
          </p:nvPr>
        </p:nvSpPr>
        <p:spPr/>
        <p:txBody>
          <a:bodyPr/>
          <a:lstStyle/>
          <a:p>
            <a:endParaRPr lang="en-ZA"/>
          </a:p>
        </p:txBody>
      </p:sp>
      <p:sp>
        <p:nvSpPr>
          <p:cNvPr id="5" name="Slide Number Placeholder 4"/>
          <p:cNvSpPr>
            <a:spLocks noGrp="1"/>
          </p:cNvSpPr>
          <p:nvPr>
            <p:ph type="sldNum" sz="quarter" idx="12"/>
          </p:nvPr>
        </p:nvSpPr>
        <p:spPr/>
        <p:txBody>
          <a:bodyPr/>
          <a:lstStyle/>
          <a:p>
            <a:fld id="{0289AE93-6B67-40AE-BB4A-218448CDA777}" type="slidenum">
              <a:rPr lang="en-ZA" smtClean="0"/>
              <a:t>‹#›</a:t>
            </a:fld>
            <a:endParaRPr lang="en-ZA"/>
          </a:p>
        </p:txBody>
      </p:sp>
    </p:spTree>
    <p:extLst>
      <p:ext uri="{BB962C8B-B14F-4D97-AF65-F5344CB8AC3E}">
        <p14:creationId xmlns:p14="http://schemas.microsoft.com/office/powerpoint/2010/main" val="39875573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BA4BB3-0841-4D42-84DF-0283B17BD43A}" type="datetimeFigureOut">
              <a:rPr lang="en-ZA" smtClean="0"/>
              <a:t>2025/11/01</a:t>
            </a:fld>
            <a:endParaRPr lang="en-ZA"/>
          </a:p>
        </p:txBody>
      </p:sp>
      <p:sp>
        <p:nvSpPr>
          <p:cNvPr id="3" name="Footer Placeholder 2"/>
          <p:cNvSpPr>
            <a:spLocks noGrp="1"/>
          </p:cNvSpPr>
          <p:nvPr>
            <p:ph type="ftr" sz="quarter" idx="11"/>
          </p:nvPr>
        </p:nvSpPr>
        <p:spPr/>
        <p:txBody>
          <a:bodyPr/>
          <a:lstStyle/>
          <a:p>
            <a:endParaRPr lang="en-ZA"/>
          </a:p>
        </p:txBody>
      </p:sp>
      <p:sp>
        <p:nvSpPr>
          <p:cNvPr id="4" name="Slide Number Placeholder 3"/>
          <p:cNvSpPr>
            <a:spLocks noGrp="1"/>
          </p:cNvSpPr>
          <p:nvPr>
            <p:ph type="sldNum" sz="quarter" idx="12"/>
          </p:nvPr>
        </p:nvSpPr>
        <p:spPr/>
        <p:txBody>
          <a:bodyPr/>
          <a:lstStyle/>
          <a:p>
            <a:fld id="{0289AE93-6B67-40AE-BB4A-218448CDA777}" type="slidenum">
              <a:rPr lang="en-ZA" smtClean="0"/>
              <a:t>‹#›</a:t>
            </a:fld>
            <a:endParaRPr lang="en-ZA"/>
          </a:p>
        </p:txBody>
      </p:sp>
    </p:spTree>
    <p:extLst>
      <p:ext uri="{BB962C8B-B14F-4D97-AF65-F5344CB8AC3E}">
        <p14:creationId xmlns:p14="http://schemas.microsoft.com/office/powerpoint/2010/main" val="41444190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ZA"/>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DBA4BB3-0841-4D42-84DF-0283B17BD43A}" type="datetimeFigureOut">
              <a:rPr lang="en-ZA" smtClean="0"/>
              <a:t>2025/11/01</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0289AE93-6B67-40AE-BB4A-218448CDA777}" type="slidenum">
              <a:rPr lang="en-ZA" smtClean="0"/>
              <a:t>‹#›</a:t>
            </a:fld>
            <a:endParaRPr lang="en-ZA"/>
          </a:p>
        </p:txBody>
      </p:sp>
    </p:spTree>
    <p:extLst>
      <p:ext uri="{BB962C8B-B14F-4D97-AF65-F5344CB8AC3E}">
        <p14:creationId xmlns:p14="http://schemas.microsoft.com/office/powerpoint/2010/main" val="38245006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ZA"/>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DBA4BB3-0841-4D42-84DF-0283B17BD43A}" type="datetimeFigureOut">
              <a:rPr lang="en-ZA" smtClean="0"/>
              <a:t>2025/11/01</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0289AE93-6B67-40AE-BB4A-218448CDA777}" type="slidenum">
              <a:rPr lang="en-ZA" smtClean="0"/>
              <a:t>‹#›</a:t>
            </a:fld>
            <a:endParaRPr lang="en-ZA"/>
          </a:p>
        </p:txBody>
      </p:sp>
    </p:spTree>
    <p:extLst>
      <p:ext uri="{BB962C8B-B14F-4D97-AF65-F5344CB8AC3E}">
        <p14:creationId xmlns:p14="http://schemas.microsoft.com/office/powerpoint/2010/main" val="523052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ZA"/>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Date Placeholder 3"/>
          <p:cNvSpPr>
            <a:spLocks noGrp="1"/>
          </p:cNvSpPr>
          <p:nvPr>
            <p:ph type="dt" sz="half" idx="10"/>
          </p:nvPr>
        </p:nvSpPr>
        <p:spPr/>
        <p:txBody>
          <a:bodyPr/>
          <a:lstStyle/>
          <a:p>
            <a:fld id="{5DBA4BB3-0841-4D42-84DF-0283B17BD43A}" type="datetimeFigureOut">
              <a:rPr lang="en-ZA" smtClean="0"/>
              <a:t>2025/11/01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0289AE93-6B67-40AE-BB4A-218448CDA777}" type="slidenum">
              <a:rPr lang="en-ZA" smtClean="0"/>
              <a:t>‹#›</a:t>
            </a:fld>
            <a:endParaRPr lang="en-ZA"/>
          </a:p>
        </p:txBody>
      </p:sp>
    </p:spTree>
    <p:extLst>
      <p:ext uri="{BB962C8B-B14F-4D97-AF65-F5344CB8AC3E}">
        <p14:creationId xmlns:p14="http://schemas.microsoft.com/office/powerpoint/2010/main" val="25613464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ZA"/>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Date Placeholder 3"/>
          <p:cNvSpPr>
            <a:spLocks noGrp="1"/>
          </p:cNvSpPr>
          <p:nvPr>
            <p:ph type="dt" sz="half" idx="10"/>
          </p:nvPr>
        </p:nvSpPr>
        <p:spPr/>
        <p:txBody>
          <a:bodyPr/>
          <a:lstStyle/>
          <a:p>
            <a:fld id="{5DBA4BB3-0841-4D42-84DF-0283B17BD43A}" type="datetimeFigureOut">
              <a:rPr lang="en-ZA" smtClean="0"/>
              <a:t>2025/11/01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0289AE93-6B67-40AE-BB4A-218448CDA777}" type="slidenum">
              <a:rPr lang="en-ZA" smtClean="0"/>
              <a:t>‹#›</a:t>
            </a:fld>
            <a:endParaRPr lang="en-ZA"/>
          </a:p>
        </p:txBody>
      </p:sp>
    </p:spTree>
    <p:extLst>
      <p:ext uri="{BB962C8B-B14F-4D97-AF65-F5344CB8AC3E}">
        <p14:creationId xmlns:p14="http://schemas.microsoft.com/office/powerpoint/2010/main" val="38911173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ZA"/>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BA4BB3-0841-4D42-84DF-0283B17BD43A}" type="datetimeFigureOut">
              <a:rPr lang="en-ZA" smtClean="0"/>
              <a:t>2025/11/01</a:t>
            </a:fld>
            <a:endParaRPr lang="en-ZA"/>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ZA"/>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89AE93-6B67-40AE-BB4A-218448CDA777}" type="slidenum">
              <a:rPr lang="en-ZA" smtClean="0"/>
              <a:t>‹#›</a:t>
            </a:fld>
            <a:endParaRPr lang="en-ZA"/>
          </a:p>
        </p:txBody>
      </p:sp>
    </p:spTree>
    <p:extLst>
      <p:ext uri="{BB962C8B-B14F-4D97-AF65-F5344CB8AC3E}">
        <p14:creationId xmlns:p14="http://schemas.microsoft.com/office/powerpoint/2010/main" val="31138991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solidFill>
            <a:srgbClr val="0070C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r>
              <a:rPr lang="en-ZA" dirty="0" smtClean="0"/>
              <a:t>Work Integrated Learning</a:t>
            </a:r>
            <a:br>
              <a:rPr lang="en-ZA" dirty="0" smtClean="0"/>
            </a:br>
            <a:r>
              <a:rPr lang="en-ZA" dirty="0" smtClean="0"/>
              <a:t>XHAW5112</a:t>
            </a:r>
            <a:endParaRPr lang="en-ZA" dirty="0"/>
          </a:p>
        </p:txBody>
      </p:sp>
      <p:sp>
        <p:nvSpPr>
          <p:cNvPr id="3" name="Subtitle 2"/>
          <p:cNvSpPr>
            <a:spLocks noGrp="1"/>
          </p:cNvSpPr>
          <p:nvPr>
            <p:ph type="subTitle" idx="1"/>
          </p:nvPr>
        </p:nvSpPr>
        <p:spPr/>
        <p:txBody>
          <a:bodyPr/>
          <a:lstStyle/>
          <a:p>
            <a:r>
              <a:rPr lang="en-ZA" b="1" i="1" dirty="0" smtClean="0"/>
              <a:t>Group 8</a:t>
            </a:r>
          </a:p>
          <a:p>
            <a:r>
              <a:rPr lang="en-ZA" sz="1600" b="1" i="1" dirty="0" err="1" smtClean="0"/>
              <a:t>Tebogo</a:t>
            </a:r>
            <a:r>
              <a:rPr lang="en-ZA" sz="1600" b="1" i="1" dirty="0" smtClean="0"/>
              <a:t> </a:t>
            </a:r>
            <a:r>
              <a:rPr lang="en-ZA" sz="1600" b="1" i="1" dirty="0" err="1" smtClean="0"/>
              <a:t>Msimanga</a:t>
            </a:r>
            <a:r>
              <a:rPr lang="en-ZA" sz="1600" b="1" i="1" dirty="0" smtClean="0"/>
              <a:t> st10488599</a:t>
            </a:r>
          </a:p>
          <a:p>
            <a:r>
              <a:rPr lang="en-ZA" sz="1600" b="1" i="1" dirty="0" err="1" smtClean="0"/>
              <a:t>Maditsi</a:t>
            </a:r>
            <a:r>
              <a:rPr lang="en-ZA" sz="1600" b="1" i="1" dirty="0" smtClean="0"/>
              <a:t> </a:t>
            </a:r>
            <a:r>
              <a:rPr lang="en-ZA" sz="1600" b="1" i="1" dirty="0" err="1" smtClean="0"/>
              <a:t>Rapelego</a:t>
            </a:r>
            <a:r>
              <a:rPr lang="en-ZA" sz="1600" b="1" i="1" dirty="0" smtClean="0"/>
              <a:t> st10496347</a:t>
            </a:r>
          </a:p>
          <a:p>
            <a:r>
              <a:rPr lang="en-ZA" sz="1600" b="1" i="1" dirty="0" smtClean="0"/>
              <a:t>Jupiter </a:t>
            </a:r>
            <a:r>
              <a:rPr lang="en-ZA" sz="1600" b="1" i="1" dirty="0" err="1" smtClean="0"/>
              <a:t>Ngwenya</a:t>
            </a:r>
            <a:r>
              <a:rPr lang="en-ZA" sz="1600" b="1" i="1" dirty="0" smtClean="0"/>
              <a:t> st10465627</a:t>
            </a:r>
          </a:p>
          <a:p>
            <a:r>
              <a:rPr lang="en-ZA" sz="1600" b="1" i="1" dirty="0" err="1" smtClean="0"/>
              <a:t>Onneilwe</a:t>
            </a:r>
            <a:r>
              <a:rPr lang="en-ZA" sz="1600" b="1" i="1" dirty="0" smtClean="0"/>
              <a:t> </a:t>
            </a:r>
            <a:r>
              <a:rPr lang="en-ZA" sz="1600" b="1" i="1" dirty="0" err="1" smtClean="0"/>
              <a:t>Malope</a:t>
            </a:r>
            <a:r>
              <a:rPr lang="en-ZA" sz="1600" b="1" i="1" dirty="0" smtClean="0"/>
              <a:t> st10482777</a:t>
            </a:r>
          </a:p>
          <a:p>
            <a:endParaRPr lang="en-ZA" dirty="0"/>
          </a:p>
        </p:txBody>
      </p:sp>
    </p:spTree>
    <p:extLst>
      <p:ext uri="{BB962C8B-B14F-4D97-AF65-F5344CB8AC3E}">
        <p14:creationId xmlns:p14="http://schemas.microsoft.com/office/powerpoint/2010/main" val="300948502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p:cNvSpPr/>
          <p:nvPr/>
        </p:nvSpPr>
        <p:spPr>
          <a:xfrm>
            <a:off x="107504" y="620688"/>
            <a:ext cx="8496944" cy="5904656"/>
          </a:xfrm>
          <a:prstGeom prst="ellipse">
            <a:avLst/>
          </a:prstGeom>
          <a:solidFill>
            <a:srgbClr val="00B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Rectangle 1"/>
          <p:cNvSpPr/>
          <p:nvPr/>
        </p:nvSpPr>
        <p:spPr>
          <a:xfrm>
            <a:off x="719572" y="2103532"/>
            <a:ext cx="7272808" cy="2677656"/>
          </a:xfrm>
          <a:prstGeom prst="rect">
            <a:avLst/>
          </a:prstGeom>
        </p:spPr>
        <p:txBody>
          <a:bodyPr wrap="square">
            <a:spAutoFit/>
          </a:bodyPr>
          <a:lstStyle/>
          <a:p>
            <a:r>
              <a:rPr lang="en-GB" sz="2800" b="1" dirty="0" smtClean="0"/>
              <a:t>Each team member played a key role — from planning and designing to developing and finalizing the content — ensuring that </a:t>
            </a:r>
            <a:r>
              <a:rPr lang="en-GB" sz="2800" b="1" i="1" dirty="0" smtClean="0"/>
              <a:t>Empowering the Nation</a:t>
            </a:r>
            <a:r>
              <a:rPr lang="en-GB" sz="2800" b="1" dirty="0" smtClean="0"/>
              <a:t>’s website was professional, functional, and aligned with its goal of community empowerment.</a:t>
            </a:r>
            <a:endParaRPr lang="en-ZA" sz="2800" b="1" dirty="0"/>
          </a:p>
        </p:txBody>
      </p:sp>
    </p:spTree>
    <p:extLst>
      <p:ext uri="{BB962C8B-B14F-4D97-AF65-F5344CB8AC3E}">
        <p14:creationId xmlns:p14="http://schemas.microsoft.com/office/powerpoint/2010/main" val="184397172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90066"/>
          </a:xfrm>
          <a:solidFill>
            <a:srgbClr val="00B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fontScale="90000"/>
          </a:bodyPr>
          <a:lstStyle/>
          <a:p>
            <a:r>
              <a:rPr lang="en-ZA" dirty="0" err="1" smtClean="0">
                <a:effectLst>
                  <a:outerShdw blurRad="38100" dist="38100" dir="2700000" algn="tl">
                    <a:srgbClr val="000000">
                      <a:alpha val="43137"/>
                    </a:srgbClr>
                  </a:outerShdw>
                </a:effectLst>
              </a:rPr>
              <a:t>Introductionc</a:t>
            </a:r>
            <a:endParaRPr lang="en-ZA" dirty="0">
              <a:effectLst>
                <a:outerShdw blurRad="38100" dist="38100" dir="2700000" algn="tl">
                  <a:srgbClr val="000000">
                    <a:alpha val="43137"/>
                  </a:srgbClr>
                </a:outerShdw>
              </a:effectLst>
            </a:endParaRPr>
          </a:p>
        </p:txBody>
      </p:sp>
      <p:sp>
        <p:nvSpPr>
          <p:cNvPr id="5" name="Rounded Rectangle 4"/>
          <p:cNvSpPr/>
          <p:nvPr/>
        </p:nvSpPr>
        <p:spPr>
          <a:xfrm>
            <a:off x="4716016" y="1556792"/>
            <a:ext cx="3456384" cy="5112568"/>
          </a:xfrm>
          <a:prstGeom prst="roundRect">
            <a:avLst/>
          </a:prstGeom>
          <a:solidFill>
            <a:schemeClr val="accent1">
              <a:lumMod val="40000"/>
              <a:lumOff val="60000"/>
            </a:schemeClr>
          </a:solidFill>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2000" b="1" dirty="0" smtClean="0"/>
              <a:t>Web Designer (UI/UX Designer</a:t>
            </a:r>
            <a:r>
              <a:rPr lang="en-ZA" dirty="0" smtClean="0"/>
              <a:t>)</a:t>
            </a:r>
          </a:p>
          <a:p>
            <a:pPr algn="ctr"/>
            <a:endParaRPr lang="en-ZA" dirty="0" smtClean="0"/>
          </a:p>
          <a:p>
            <a:pPr algn="ctr"/>
            <a:r>
              <a:rPr lang="en-GB" dirty="0" smtClean="0"/>
              <a:t>Designed the wireframes and overall visual layout of the website.</a:t>
            </a:r>
            <a:endParaRPr lang="en-ZA" dirty="0" smtClean="0"/>
          </a:p>
          <a:p>
            <a:pPr algn="ctr"/>
            <a:r>
              <a:rPr lang="en-GB" dirty="0" smtClean="0"/>
              <a:t>Responsible for creating an attractive and user-friendly interface. We chose suitable colours, fonts, and images that matched the professional and empowering theme of the business.</a:t>
            </a:r>
            <a:endParaRPr lang="en-ZA" dirty="0"/>
          </a:p>
        </p:txBody>
      </p:sp>
      <p:sp>
        <p:nvSpPr>
          <p:cNvPr id="6" name="Rounded Rectangle 5"/>
          <p:cNvSpPr/>
          <p:nvPr/>
        </p:nvSpPr>
        <p:spPr>
          <a:xfrm>
            <a:off x="611560" y="1556792"/>
            <a:ext cx="3456384" cy="5112568"/>
          </a:xfrm>
          <a:prstGeom prst="roundRect">
            <a:avLst/>
          </a:prstGeom>
          <a:solidFill>
            <a:schemeClr val="tx2">
              <a:lumMod val="60000"/>
              <a:lumOff val="40000"/>
            </a:schemeClr>
          </a:solidFill>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2000" b="1" dirty="0" smtClean="0"/>
              <a:t>Web Developer (Front-End Developer)</a:t>
            </a:r>
          </a:p>
          <a:p>
            <a:pPr algn="ctr"/>
            <a:endParaRPr lang="en-ZA" dirty="0" smtClean="0"/>
          </a:p>
          <a:p>
            <a:pPr algn="ctr"/>
            <a:r>
              <a:rPr lang="en-GB" dirty="0" smtClean="0"/>
              <a:t>Built and coded the actual website using HTML, CSS, and JavaScript.</a:t>
            </a:r>
          </a:p>
          <a:p>
            <a:pPr algn="ctr"/>
            <a:r>
              <a:rPr lang="en-GB" dirty="0" smtClean="0"/>
              <a:t>Converted the wireframes into a fully functional website. Ensured the navigation menu, registration form, and course display worked properly across all devices.</a:t>
            </a:r>
            <a:endParaRPr lang="en-ZA" dirty="0"/>
          </a:p>
        </p:txBody>
      </p:sp>
      <p:sp>
        <p:nvSpPr>
          <p:cNvPr id="8" name="Rounded Rectangle 7"/>
          <p:cNvSpPr/>
          <p:nvPr/>
        </p:nvSpPr>
        <p:spPr>
          <a:xfrm>
            <a:off x="1043608" y="980728"/>
            <a:ext cx="2664296" cy="504056"/>
          </a:xfrm>
          <a:prstGeom prst="roundRect">
            <a:avLst/>
          </a:prstGeom>
          <a:solidFill>
            <a:schemeClr val="tx2">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b="1" dirty="0" err="1" smtClean="0">
                <a:solidFill>
                  <a:schemeClr val="tx1"/>
                </a:solidFill>
              </a:rPr>
              <a:t>Lethabo</a:t>
            </a:r>
            <a:endParaRPr lang="en-ZA" b="1" dirty="0">
              <a:solidFill>
                <a:schemeClr val="tx1"/>
              </a:solidFill>
            </a:endParaRPr>
          </a:p>
        </p:txBody>
      </p:sp>
      <p:sp>
        <p:nvSpPr>
          <p:cNvPr id="9" name="Rounded Rectangle 8"/>
          <p:cNvSpPr/>
          <p:nvPr/>
        </p:nvSpPr>
        <p:spPr>
          <a:xfrm>
            <a:off x="5148064" y="980728"/>
            <a:ext cx="2664296" cy="504056"/>
          </a:xfrm>
          <a:prstGeom prst="roundRect">
            <a:avLst/>
          </a:prstGeom>
          <a:solidFill>
            <a:schemeClr val="tx2">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b="1" dirty="0" err="1" smtClean="0">
                <a:solidFill>
                  <a:schemeClr val="tx1"/>
                </a:solidFill>
              </a:rPr>
              <a:t>Tebogo</a:t>
            </a:r>
            <a:endParaRPr lang="en-ZA" b="1" dirty="0">
              <a:solidFill>
                <a:schemeClr val="tx1"/>
              </a:solidFill>
            </a:endParaRPr>
          </a:p>
        </p:txBody>
      </p:sp>
    </p:spTree>
    <p:extLst>
      <p:ext uri="{BB962C8B-B14F-4D97-AF65-F5344CB8AC3E}">
        <p14:creationId xmlns:p14="http://schemas.microsoft.com/office/powerpoint/2010/main" val="308541455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611560" y="1412776"/>
            <a:ext cx="3456384" cy="5112568"/>
          </a:xfrm>
          <a:prstGeom prst="roundRect">
            <a:avLst/>
          </a:prstGeom>
          <a:solidFill>
            <a:schemeClr val="accent2">
              <a:lumMod val="60000"/>
              <a:lumOff val="40000"/>
            </a:schemeClr>
          </a:solidFill>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2000" dirty="0" smtClean="0">
                <a:solidFill>
                  <a:schemeClr val="tx1"/>
                </a:solidFill>
              </a:rPr>
              <a:t>Project Manager (Team Leader</a:t>
            </a:r>
            <a:r>
              <a:rPr lang="en-ZA" dirty="0" smtClean="0"/>
              <a:t>)</a:t>
            </a:r>
          </a:p>
          <a:p>
            <a:pPr algn="ctr"/>
            <a:endParaRPr lang="en-ZA" dirty="0" smtClean="0"/>
          </a:p>
          <a:p>
            <a:pPr algn="ctr"/>
            <a:r>
              <a:rPr lang="en-GB" dirty="0" smtClean="0"/>
              <a:t>Oversees the entire web development process.</a:t>
            </a:r>
          </a:p>
          <a:p>
            <a:pPr algn="ctr"/>
            <a:r>
              <a:rPr lang="en-GB" dirty="0" smtClean="0"/>
              <a:t>The project manager coordinated all tasks, ensured deadlines were met, assigned roles, and maintained communication between team members. He also managed client feedback from Precious </a:t>
            </a:r>
            <a:r>
              <a:rPr lang="en-GB" dirty="0" err="1" smtClean="0"/>
              <a:t>Radebe</a:t>
            </a:r>
            <a:r>
              <a:rPr lang="en-GB" dirty="0" smtClean="0"/>
              <a:t> to align the project with her vision.</a:t>
            </a:r>
            <a:endParaRPr lang="en-ZA" dirty="0"/>
          </a:p>
        </p:txBody>
      </p:sp>
      <p:sp>
        <p:nvSpPr>
          <p:cNvPr id="3" name="Rounded Rectangle 2"/>
          <p:cNvSpPr/>
          <p:nvPr/>
        </p:nvSpPr>
        <p:spPr>
          <a:xfrm>
            <a:off x="4788024" y="1412776"/>
            <a:ext cx="3456384" cy="5112568"/>
          </a:xfrm>
          <a:prstGeom prst="roundRect">
            <a:avLst/>
          </a:prstGeom>
          <a:solidFill>
            <a:schemeClr val="accent2">
              <a:lumMod val="75000"/>
            </a:schemeClr>
          </a:solidFill>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2000" b="1" dirty="0" smtClean="0"/>
              <a:t>Content Developer (Copywriter / SEO Specialist)</a:t>
            </a:r>
          </a:p>
          <a:p>
            <a:pPr algn="ctr"/>
            <a:endParaRPr lang="en-ZA" dirty="0" smtClean="0"/>
          </a:p>
          <a:p>
            <a:pPr algn="ctr"/>
            <a:r>
              <a:rPr lang="en-GB" dirty="0" smtClean="0"/>
              <a:t>Created and organised text and multimedia content for the website.</a:t>
            </a:r>
          </a:p>
          <a:p>
            <a:pPr algn="ctr"/>
            <a:r>
              <a:rPr lang="en-GB" dirty="0" smtClean="0"/>
              <a:t>Wrote and edited all course descriptions, headings, and text on the website. Ensured the content was clear, relevant, and optimized for search engines (SEO).</a:t>
            </a:r>
            <a:endParaRPr lang="en-ZA" dirty="0"/>
          </a:p>
        </p:txBody>
      </p:sp>
      <p:sp>
        <p:nvSpPr>
          <p:cNvPr id="4" name="Rounded Rectangle 3"/>
          <p:cNvSpPr/>
          <p:nvPr/>
        </p:nvSpPr>
        <p:spPr>
          <a:xfrm>
            <a:off x="899592" y="692696"/>
            <a:ext cx="2808312" cy="576064"/>
          </a:xfrm>
          <a:prstGeom prst="roundRect">
            <a:avLst/>
          </a:prstGeom>
          <a:solidFill>
            <a:schemeClr val="accent2">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dirty="0" smtClean="0"/>
              <a:t>Jupiter</a:t>
            </a:r>
            <a:endParaRPr lang="en-ZA" dirty="0"/>
          </a:p>
        </p:txBody>
      </p:sp>
      <p:sp>
        <p:nvSpPr>
          <p:cNvPr id="5" name="Rounded Rectangle 4"/>
          <p:cNvSpPr/>
          <p:nvPr/>
        </p:nvSpPr>
        <p:spPr>
          <a:xfrm>
            <a:off x="5148064" y="692696"/>
            <a:ext cx="2808312" cy="576064"/>
          </a:xfrm>
          <a:prstGeom prst="roundRect">
            <a:avLst/>
          </a:prstGeom>
          <a:solidFill>
            <a:schemeClr val="accent2">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dirty="0" err="1" smtClean="0"/>
              <a:t>Onneilwe</a:t>
            </a:r>
            <a:endParaRPr lang="en-ZA" dirty="0"/>
          </a:p>
        </p:txBody>
      </p:sp>
    </p:spTree>
    <p:extLst>
      <p:ext uri="{BB962C8B-B14F-4D97-AF65-F5344CB8AC3E}">
        <p14:creationId xmlns:p14="http://schemas.microsoft.com/office/powerpoint/2010/main" val="77221859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609600" y="188640"/>
            <a:ext cx="8229600" cy="1143000"/>
          </a:xfrm>
          <a:prstGeom prst="rect">
            <a:avLst/>
          </a:prstGeom>
          <a:solidFill>
            <a:srgbClr val="00B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ZA" dirty="0"/>
          </a:p>
        </p:txBody>
      </p:sp>
      <p:sp>
        <p:nvSpPr>
          <p:cNvPr id="2" name="Title 1"/>
          <p:cNvSpPr>
            <a:spLocks noGrp="1"/>
          </p:cNvSpPr>
          <p:nvPr>
            <p:ph type="title"/>
          </p:nvPr>
        </p:nvSpPr>
        <p:spPr/>
        <p:txBody>
          <a:bodyPr/>
          <a:lstStyle/>
          <a:p>
            <a:r>
              <a:rPr lang="en-ZA" dirty="0" smtClean="0"/>
              <a:t>Problem Statement</a:t>
            </a:r>
            <a:endParaRPr lang="en-ZA" dirty="0"/>
          </a:p>
        </p:txBody>
      </p:sp>
      <p:sp>
        <p:nvSpPr>
          <p:cNvPr id="3" name="Rectangle 2"/>
          <p:cNvSpPr/>
          <p:nvPr/>
        </p:nvSpPr>
        <p:spPr>
          <a:xfrm>
            <a:off x="467544" y="1484784"/>
            <a:ext cx="8424936" cy="504056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400" dirty="0" smtClean="0">
                <a:solidFill>
                  <a:schemeClr val="tx1"/>
                </a:solidFill>
              </a:rPr>
              <a:t>Many domestic workers and gardeners in South Africa lack access to professional training.</a:t>
            </a:r>
          </a:p>
          <a:p>
            <a:endParaRPr lang="en-GB" sz="2400" dirty="0" smtClean="0">
              <a:solidFill>
                <a:schemeClr val="tx1"/>
              </a:solidFill>
            </a:endParaRPr>
          </a:p>
          <a:p>
            <a:r>
              <a:rPr lang="en-GB" sz="2400" dirty="0" smtClean="0">
                <a:solidFill>
                  <a:schemeClr val="tx1"/>
                </a:solidFill>
              </a:rPr>
              <a:t>Empowering the Nation website bridges this gap by offering affordable, practical courses and making it easy to learn about the course, calculate fees, and enrol in training programmes.</a:t>
            </a:r>
            <a:endParaRPr lang="en-ZA" sz="2400" dirty="0">
              <a:solidFill>
                <a:schemeClr val="tx1"/>
              </a:solidFill>
            </a:endParaRPr>
          </a:p>
        </p:txBody>
      </p:sp>
    </p:spTree>
    <p:extLst>
      <p:ext uri="{BB962C8B-B14F-4D97-AF65-F5344CB8AC3E}">
        <p14:creationId xmlns:p14="http://schemas.microsoft.com/office/powerpoint/2010/main" val="35226748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609600" y="735089"/>
            <a:ext cx="8229600" cy="1143000"/>
          </a:xfrm>
          <a:prstGeom prst="rect">
            <a:avLst/>
          </a:prstGeom>
          <a:solidFill>
            <a:srgbClr val="00B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ZA" dirty="0"/>
          </a:p>
        </p:txBody>
      </p:sp>
      <p:sp>
        <p:nvSpPr>
          <p:cNvPr id="2" name="Title 1"/>
          <p:cNvSpPr>
            <a:spLocks noGrp="1"/>
          </p:cNvSpPr>
          <p:nvPr>
            <p:ph type="title"/>
          </p:nvPr>
        </p:nvSpPr>
        <p:spPr>
          <a:xfrm>
            <a:off x="539552" y="764704"/>
            <a:ext cx="8229600" cy="1143000"/>
          </a:xfrm>
        </p:spPr>
        <p:txBody>
          <a:bodyPr/>
          <a:lstStyle/>
          <a:p>
            <a:r>
              <a:rPr lang="en-ZA" dirty="0" smtClean="0"/>
              <a:t>Website Overview</a:t>
            </a:r>
            <a:endParaRPr lang="en-ZA" dirty="0"/>
          </a:p>
        </p:txBody>
      </p:sp>
      <p:sp>
        <p:nvSpPr>
          <p:cNvPr id="3" name="Rectangle 2"/>
          <p:cNvSpPr/>
          <p:nvPr/>
        </p:nvSpPr>
        <p:spPr>
          <a:xfrm>
            <a:off x="326743" y="2492896"/>
            <a:ext cx="8208912" cy="2677656"/>
          </a:xfrm>
          <a:prstGeom prst="rect">
            <a:avLst/>
          </a:prstGeom>
        </p:spPr>
        <p:txBody>
          <a:bodyPr wrap="square">
            <a:spAutoFit/>
          </a:bodyPr>
          <a:lstStyle/>
          <a:p>
            <a:r>
              <a:rPr lang="en-GB" sz="2400" b="1" dirty="0" smtClean="0"/>
              <a:t>Our website includes:</a:t>
            </a:r>
          </a:p>
          <a:p>
            <a:pPr marL="342900" indent="-342900">
              <a:buFont typeface="Arial" panose="020B0604020202020204" pitchFamily="34" charset="0"/>
              <a:buChar char="•"/>
            </a:pPr>
            <a:r>
              <a:rPr lang="en-GB" sz="2400" dirty="0" smtClean="0"/>
              <a:t> Home Page: Introduction and mission</a:t>
            </a:r>
          </a:p>
          <a:p>
            <a:pPr marL="342900" indent="-342900">
              <a:buFont typeface="Arial" panose="020B0604020202020204" pitchFamily="34" charset="0"/>
              <a:buChar char="•"/>
            </a:pPr>
            <a:r>
              <a:rPr lang="en-GB" sz="2400" dirty="0" smtClean="0"/>
              <a:t> About Page: Founder story and goals</a:t>
            </a:r>
          </a:p>
          <a:p>
            <a:pPr marL="342900" indent="-342900">
              <a:buFont typeface="Arial" panose="020B0604020202020204" pitchFamily="34" charset="0"/>
              <a:buChar char="•"/>
            </a:pPr>
            <a:r>
              <a:rPr lang="en-GB" sz="2400" dirty="0" smtClean="0"/>
              <a:t> Courses: 6-Month and 6-Week training options</a:t>
            </a:r>
          </a:p>
          <a:p>
            <a:pPr marL="342900" indent="-342900">
              <a:buFont typeface="Arial" panose="020B0604020202020204" pitchFamily="34" charset="0"/>
              <a:buChar char="•"/>
            </a:pPr>
            <a:r>
              <a:rPr lang="en-GB" sz="2400" dirty="0" smtClean="0"/>
              <a:t>Purchase Page: Fee calculator with discounts and VAT</a:t>
            </a:r>
          </a:p>
          <a:p>
            <a:pPr marL="342900" indent="-342900">
              <a:buFont typeface="Arial" panose="020B0604020202020204" pitchFamily="34" charset="0"/>
              <a:buChar char="•"/>
            </a:pPr>
            <a:r>
              <a:rPr lang="en-GB" sz="2400" dirty="0" smtClean="0"/>
              <a:t>Success Page: Feed back to the user</a:t>
            </a:r>
            <a:endParaRPr lang="en-GB" sz="2400" dirty="0" smtClean="0"/>
          </a:p>
          <a:p>
            <a:pPr marL="342900" indent="-342900">
              <a:buFont typeface="Arial" panose="020B0604020202020204" pitchFamily="34" charset="0"/>
              <a:buChar char="•"/>
            </a:pPr>
            <a:r>
              <a:rPr lang="en-GB" sz="2400" dirty="0" smtClean="0"/>
              <a:t> Contact Page: Maps, phone, and email information</a:t>
            </a:r>
            <a:endParaRPr lang="en-GB" sz="2400" dirty="0"/>
          </a:p>
        </p:txBody>
      </p:sp>
    </p:spTree>
    <p:extLst>
      <p:ext uri="{BB962C8B-B14F-4D97-AF65-F5344CB8AC3E}">
        <p14:creationId xmlns:p14="http://schemas.microsoft.com/office/powerpoint/2010/main" val="240556879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txBox="1">
            <a:spLocks/>
          </p:cNvSpPr>
          <p:nvPr/>
        </p:nvSpPr>
        <p:spPr>
          <a:xfrm>
            <a:off x="609600" y="188640"/>
            <a:ext cx="8229600" cy="1143000"/>
          </a:xfrm>
          <a:prstGeom prst="rect">
            <a:avLst/>
          </a:prstGeom>
          <a:solidFill>
            <a:srgbClr val="00B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ZA" dirty="0"/>
          </a:p>
        </p:txBody>
      </p:sp>
      <p:sp>
        <p:nvSpPr>
          <p:cNvPr id="2" name="Title 1"/>
          <p:cNvSpPr>
            <a:spLocks noGrp="1"/>
          </p:cNvSpPr>
          <p:nvPr>
            <p:ph type="title"/>
          </p:nvPr>
        </p:nvSpPr>
        <p:spPr/>
        <p:txBody>
          <a:bodyPr/>
          <a:lstStyle/>
          <a:p>
            <a:r>
              <a:rPr lang="en-ZA" dirty="0" smtClean="0"/>
              <a:t>Home Page</a:t>
            </a:r>
            <a:endParaRPr lang="en-ZA" dirty="0"/>
          </a:p>
        </p:txBody>
      </p:sp>
      <p:pic>
        <p:nvPicPr>
          <p:cNvPr id="8" name="Content Placeholder 7"/>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1192183" y="1604198"/>
            <a:ext cx="2568633" cy="451796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9" name="Content Placeholder 8"/>
          <p:cNvSpPr>
            <a:spLocks noGrp="1"/>
          </p:cNvSpPr>
          <p:nvPr>
            <p:ph sz="half" idx="2"/>
          </p:nvPr>
        </p:nvSpPr>
        <p:spPr>
          <a:xfrm>
            <a:off x="4648200" y="1600200"/>
            <a:ext cx="4038600" cy="4997152"/>
          </a:xfrm>
        </p:spPr>
        <p:txBody>
          <a:bodyPr>
            <a:normAutofit fontScale="55000" lnSpcReduction="20000"/>
          </a:bodyPr>
          <a:lstStyle/>
          <a:p>
            <a:pPr marL="0" indent="0">
              <a:buNone/>
            </a:pPr>
            <a:endParaRPr lang="en-GB" sz="3300" dirty="0" smtClean="0">
              <a:effectLst/>
            </a:endParaRPr>
          </a:p>
          <a:p>
            <a:r>
              <a:rPr lang="en-GB" sz="3300" b="1" dirty="0" smtClean="0"/>
              <a:t>Mission:</a:t>
            </a:r>
            <a:r>
              <a:rPr lang="en-GB" sz="3300" dirty="0" smtClean="0"/>
              <a:t> To uplift domestic workers and others through practical training and life skills.</a:t>
            </a:r>
          </a:p>
          <a:p>
            <a:r>
              <a:rPr lang="en-GB" sz="3300" b="1" dirty="0" smtClean="0"/>
              <a:t>Courses Offered:</a:t>
            </a:r>
            <a:r>
              <a:rPr lang="en-GB" sz="3300" dirty="0" smtClean="0"/>
              <a:t> Promotes both six-month partnerships and short courses for career advancement or starting a business.</a:t>
            </a:r>
          </a:p>
          <a:p>
            <a:r>
              <a:rPr lang="en-GB" sz="3300" b="1" dirty="0" smtClean="0"/>
              <a:t>Training Centres:</a:t>
            </a:r>
            <a:r>
              <a:rPr lang="en-GB" sz="3300" dirty="0" smtClean="0"/>
              <a:t> Lists three locations in Johannesburg (</a:t>
            </a:r>
            <a:r>
              <a:rPr lang="en-GB" sz="3300" dirty="0" err="1" smtClean="0"/>
              <a:t>Sandton</a:t>
            </a:r>
            <a:r>
              <a:rPr lang="en-GB" sz="3300" dirty="0" smtClean="0"/>
              <a:t>, Soweto, </a:t>
            </a:r>
            <a:r>
              <a:rPr lang="en-GB" sz="3300" dirty="0" err="1" smtClean="0"/>
              <a:t>Randburg</a:t>
            </a:r>
            <a:r>
              <a:rPr lang="en-GB" sz="3300" dirty="0" smtClean="0"/>
              <a:t>) with brief descriptions.</a:t>
            </a:r>
          </a:p>
          <a:p>
            <a:r>
              <a:rPr lang="en-GB" sz="3300" b="1" dirty="0" smtClean="0"/>
              <a:t>Student Testimonials:</a:t>
            </a:r>
            <a:r>
              <a:rPr lang="en-GB" sz="3300" dirty="0" smtClean="0"/>
              <a:t> Features quotes from students (</a:t>
            </a:r>
            <a:r>
              <a:rPr lang="en-GB" sz="3300" dirty="0" err="1" smtClean="0"/>
              <a:t>Tebogo</a:t>
            </a:r>
            <a:r>
              <a:rPr lang="en-GB" sz="3300" dirty="0" smtClean="0"/>
              <a:t> M., Jupiter, </a:t>
            </a:r>
            <a:r>
              <a:rPr lang="en-GB" sz="3300" dirty="0" err="1" smtClean="0"/>
              <a:t>Onnelle</a:t>
            </a:r>
            <a:r>
              <a:rPr lang="en-GB" sz="3300" dirty="0" smtClean="0"/>
              <a:t> M., </a:t>
            </a:r>
            <a:r>
              <a:rPr lang="en-GB" sz="3300" dirty="0" err="1" smtClean="0"/>
              <a:t>Lethabo</a:t>
            </a:r>
            <a:r>
              <a:rPr lang="en-GB" sz="3300" dirty="0" smtClean="0"/>
              <a:t> R.) who started their own businesses or gained confidence after taking courses.</a:t>
            </a:r>
          </a:p>
          <a:p>
            <a:r>
              <a:rPr lang="en-GB" sz="3300" dirty="0" smtClean="0"/>
              <a:t>There is a call to action: "Explore More."</a:t>
            </a:r>
          </a:p>
          <a:p>
            <a:endParaRPr lang="en-ZA" dirty="0"/>
          </a:p>
        </p:txBody>
      </p:sp>
    </p:spTree>
    <p:extLst>
      <p:ext uri="{BB962C8B-B14F-4D97-AF65-F5344CB8AC3E}">
        <p14:creationId xmlns:p14="http://schemas.microsoft.com/office/powerpoint/2010/main" val="81488726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609600" y="197768"/>
            <a:ext cx="8229600" cy="1143000"/>
          </a:xfrm>
          <a:prstGeom prst="rect">
            <a:avLst/>
          </a:prstGeom>
          <a:solidFill>
            <a:srgbClr val="00B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ZA" dirty="0"/>
          </a:p>
        </p:txBody>
      </p:sp>
      <p:sp>
        <p:nvSpPr>
          <p:cNvPr id="2" name="Title 1"/>
          <p:cNvSpPr>
            <a:spLocks noGrp="1"/>
          </p:cNvSpPr>
          <p:nvPr>
            <p:ph type="title"/>
          </p:nvPr>
        </p:nvSpPr>
        <p:spPr/>
        <p:txBody>
          <a:bodyPr/>
          <a:lstStyle/>
          <a:p>
            <a:r>
              <a:rPr lang="en-ZA" dirty="0" smtClean="0"/>
              <a:t>About Us Page</a:t>
            </a:r>
            <a:endParaRPr lang="en-ZA" dirty="0"/>
          </a:p>
        </p:txBody>
      </p:sp>
      <p:pic>
        <p:nvPicPr>
          <p:cNvPr id="1027" name="Picture 3"/>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4716017" y="1600200"/>
            <a:ext cx="3456384" cy="484360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Content Placeholder 4"/>
          <p:cNvSpPr>
            <a:spLocks noGrp="1"/>
          </p:cNvSpPr>
          <p:nvPr>
            <p:ph sz="half" idx="1"/>
          </p:nvPr>
        </p:nvSpPr>
        <p:spPr>
          <a:xfrm>
            <a:off x="457200" y="1600200"/>
            <a:ext cx="4038600" cy="5429200"/>
          </a:xfrm>
        </p:spPr>
        <p:txBody>
          <a:bodyPr>
            <a:normAutofit fontScale="32500" lnSpcReduction="20000"/>
          </a:bodyPr>
          <a:lstStyle/>
          <a:p>
            <a:r>
              <a:rPr lang="en-GB" sz="4300" dirty="0" smtClean="0">
                <a:effectLst/>
              </a:rPr>
              <a:t>This page provides the background, mission, and vision of "Empowering the Nation."</a:t>
            </a:r>
            <a:endParaRPr lang="en-GB" sz="4300" dirty="0" smtClean="0"/>
          </a:p>
          <a:p>
            <a:r>
              <a:rPr lang="en-GB" sz="4300" b="1" dirty="0" smtClean="0"/>
              <a:t>Founder &amp; Origin:</a:t>
            </a:r>
            <a:r>
              <a:rPr lang="en-GB" sz="4300" dirty="0" smtClean="0"/>
              <a:t> Founded by </a:t>
            </a:r>
            <a:r>
              <a:rPr lang="en-GB" sz="4300" b="1" dirty="0" smtClean="0"/>
              <a:t>Precious </a:t>
            </a:r>
            <a:r>
              <a:rPr lang="en-GB" sz="4300" b="1" dirty="0" err="1" smtClean="0"/>
              <a:t>Radebe</a:t>
            </a:r>
            <a:r>
              <a:rPr lang="en-GB" sz="4300" dirty="0" smtClean="0"/>
              <a:t> in 2022, inspired by her parents and community members to help domestic workers gain valuable skills.</a:t>
            </a:r>
          </a:p>
          <a:p>
            <a:r>
              <a:rPr lang="en-GB" sz="4300" b="1" dirty="0" smtClean="0"/>
              <a:t>Programme Goal:</a:t>
            </a:r>
            <a:r>
              <a:rPr lang="en-GB" sz="4300" dirty="0" smtClean="0"/>
              <a:t> Designed to make learners more marketable, increase their earning potential, and enable them to start their own small businesses. It highlights that hundreds have already transformed their lives.</a:t>
            </a:r>
          </a:p>
          <a:p>
            <a:r>
              <a:rPr lang="en-GB" sz="4300" b="1" dirty="0" smtClean="0"/>
              <a:t>Mission &amp; Vision:</a:t>
            </a:r>
            <a:endParaRPr lang="en-GB" sz="4300" dirty="0" smtClean="0"/>
          </a:p>
          <a:p>
            <a:pPr lvl="1"/>
            <a:r>
              <a:rPr lang="en-GB" sz="4300" b="1" dirty="0" smtClean="0"/>
              <a:t>Mission:</a:t>
            </a:r>
            <a:r>
              <a:rPr lang="en-GB" sz="4300" dirty="0" smtClean="0"/>
              <a:t> To provide practical training that promotes independence, confidence, and professional growth.</a:t>
            </a:r>
          </a:p>
          <a:p>
            <a:pPr lvl="1"/>
            <a:r>
              <a:rPr lang="en-GB" sz="4300" b="1" dirty="0" smtClean="0"/>
              <a:t>Vision:</a:t>
            </a:r>
            <a:r>
              <a:rPr lang="en-GB" sz="4300" dirty="0" smtClean="0"/>
              <a:t> To create a future where every South African worker has the skills and opportunities for financial stability and self-sufficiency.</a:t>
            </a:r>
          </a:p>
          <a:p>
            <a:r>
              <a:rPr lang="en-GB" sz="4300" b="1" dirty="0" smtClean="0"/>
              <a:t>Core Values:</a:t>
            </a:r>
            <a:r>
              <a:rPr lang="en-GB" sz="4300" dirty="0" smtClean="0"/>
              <a:t> Integrity, empowerment, inclusivity, and lifelong learning.</a:t>
            </a:r>
          </a:p>
          <a:p>
            <a:r>
              <a:rPr lang="en-GB" sz="4300" b="1" dirty="0" smtClean="0"/>
              <a:t>Life at the Organisation:</a:t>
            </a:r>
            <a:r>
              <a:rPr lang="en-GB" sz="4300" dirty="0" smtClean="0"/>
              <a:t> Mentions that learning is practical, inspiring, and empowering, with a promise of a "glimpse" into classrooms and workshops.</a:t>
            </a:r>
          </a:p>
          <a:p>
            <a:r>
              <a:rPr lang="en-GB" sz="4300" dirty="0" smtClean="0"/>
              <a:t>The page ends with a call to action: </a:t>
            </a:r>
            <a:r>
              <a:rPr lang="en-GB" sz="4300" b="1" dirty="0" smtClean="0"/>
              <a:t>"Enrol Now."</a:t>
            </a:r>
            <a:endParaRPr lang="en-GB" sz="4300" dirty="0" smtClean="0"/>
          </a:p>
          <a:p>
            <a:r>
              <a:rPr lang="en-GB" dirty="0" smtClean="0"/>
              <a:t> </a:t>
            </a:r>
          </a:p>
          <a:p>
            <a:endParaRPr lang="en-ZA" dirty="0"/>
          </a:p>
        </p:txBody>
      </p:sp>
    </p:spTree>
    <p:extLst>
      <p:ext uri="{BB962C8B-B14F-4D97-AF65-F5344CB8AC3E}">
        <p14:creationId xmlns:p14="http://schemas.microsoft.com/office/powerpoint/2010/main" val="290780459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609600" y="125760"/>
            <a:ext cx="8229600" cy="1143000"/>
          </a:xfrm>
          <a:prstGeom prst="rect">
            <a:avLst/>
          </a:prstGeom>
          <a:solidFill>
            <a:srgbClr val="00B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ZA" dirty="0"/>
          </a:p>
        </p:txBody>
      </p:sp>
      <p:sp>
        <p:nvSpPr>
          <p:cNvPr id="2" name="Title 1"/>
          <p:cNvSpPr>
            <a:spLocks noGrp="1"/>
          </p:cNvSpPr>
          <p:nvPr>
            <p:ph type="title"/>
          </p:nvPr>
        </p:nvSpPr>
        <p:spPr/>
        <p:txBody>
          <a:bodyPr/>
          <a:lstStyle/>
          <a:p>
            <a:r>
              <a:rPr lang="en-ZA" dirty="0" smtClean="0"/>
              <a:t>Courses Page</a:t>
            </a:r>
            <a:endParaRPr lang="en-ZA" dirty="0"/>
          </a:p>
        </p:txBody>
      </p:sp>
      <p:sp>
        <p:nvSpPr>
          <p:cNvPr id="4" name="Content Placeholder 3"/>
          <p:cNvSpPr>
            <a:spLocks noGrp="1"/>
          </p:cNvSpPr>
          <p:nvPr>
            <p:ph sz="half" idx="2"/>
          </p:nvPr>
        </p:nvSpPr>
        <p:spPr/>
        <p:txBody>
          <a:bodyPr>
            <a:normAutofit/>
          </a:bodyPr>
          <a:lstStyle/>
          <a:p>
            <a:r>
              <a:rPr lang="en-GB" sz="2000" dirty="0" smtClean="0">
                <a:effectLst/>
              </a:rPr>
              <a:t>This page helps users choose between the two main programme types.</a:t>
            </a:r>
          </a:p>
          <a:p>
            <a:r>
              <a:rPr lang="en-GB" sz="2000" b="1" dirty="0" smtClean="0"/>
              <a:t>Six-Month Courses:</a:t>
            </a:r>
            <a:r>
              <a:rPr lang="en-GB" sz="2000" dirty="0" smtClean="0"/>
              <a:t> Described as comprehensive training for entrepreneurship or employment.</a:t>
            </a:r>
          </a:p>
          <a:p>
            <a:r>
              <a:rPr lang="en-GB" sz="2000" b="1" dirty="0" smtClean="0"/>
              <a:t>Six-Week Short Courses:</a:t>
            </a:r>
            <a:r>
              <a:rPr lang="en-GB" sz="2000" dirty="0" smtClean="0"/>
              <a:t> Described as quick, focused courses for practical skills and certifications.</a:t>
            </a:r>
          </a:p>
          <a:p>
            <a:r>
              <a:rPr lang="en-GB" sz="2000" dirty="0" smtClean="0"/>
              <a:t>Each path has a button to "View" the respective courses.</a:t>
            </a:r>
          </a:p>
          <a:p>
            <a:endParaRPr lang="en-ZA" sz="2000" dirty="0"/>
          </a:p>
        </p:txBody>
      </p:sp>
      <p:pic>
        <p:nvPicPr>
          <p:cNvPr id="7" name="Content Placeholder 4"/>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458585" y="1484784"/>
            <a:ext cx="4035829" cy="460851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72444029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00B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ZA" dirty="0" smtClean="0"/>
              <a:t>6 Months Courses</a:t>
            </a:r>
            <a:endParaRPr lang="en-ZA" dirty="0"/>
          </a:p>
        </p:txBody>
      </p:sp>
      <p:pic>
        <p:nvPicPr>
          <p:cNvPr id="6" name="Content Placeholder 5"/>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4648200" y="1700808"/>
            <a:ext cx="4038600" cy="439248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8" name="Content Placeholder 7"/>
          <p:cNvSpPr>
            <a:spLocks noGrp="1"/>
          </p:cNvSpPr>
          <p:nvPr>
            <p:ph sz="half" idx="1"/>
          </p:nvPr>
        </p:nvSpPr>
        <p:spPr/>
        <p:txBody>
          <a:bodyPr>
            <a:normAutofit fontScale="70000" lnSpcReduction="20000"/>
          </a:bodyPr>
          <a:lstStyle/>
          <a:p>
            <a:r>
              <a:rPr lang="en-GB" dirty="0" smtClean="0">
                <a:effectLst/>
              </a:rPr>
              <a:t>This page lists the four comprehensive courses in the 6-month programme, each priced at R1500.</a:t>
            </a:r>
          </a:p>
          <a:p>
            <a:r>
              <a:rPr lang="en-GB" b="1" dirty="0" smtClean="0"/>
              <a:t>First Aid:</a:t>
            </a:r>
            <a:r>
              <a:rPr lang="en-GB" dirty="0" smtClean="0"/>
              <a:t> For first aid awareness and basic life support.</a:t>
            </a:r>
          </a:p>
          <a:p>
            <a:r>
              <a:rPr lang="en-GB" b="1" dirty="0" smtClean="0"/>
              <a:t>Sewing:</a:t>
            </a:r>
            <a:r>
              <a:rPr lang="en-GB" dirty="0" smtClean="0"/>
              <a:t> For alterations and new garment tailoring.</a:t>
            </a:r>
          </a:p>
          <a:p>
            <a:r>
              <a:rPr lang="en-GB" b="1" dirty="0" smtClean="0"/>
              <a:t>Landscaping:</a:t>
            </a:r>
            <a:r>
              <a:rPr lang="en-GB" dirty="0" smtClean="0"/>
              <a:t> For servicing new and established gardens.</a:t>
            </a:r>
          </a:p>
          <a:p>
            <a:r>
              <a:rPr lang="en-GB" b="1" dirty="0" smtClean="0"/>
              <a:t>Life Skills:</a:t>
            </a:r>
            <a:r>
              <a:rPr lang="en-GB" dirty="0" smtClean="0"/>
              <a:t> To navigate basic life necessities.</a:t>
            </a:r>
          </a:p>
          <a:p>
            <a:r>
              <a:rPr lang="en-GB" dirty="0" smtClean="0"/>
              <a:t>Each course has a "Read More" and "Purchase" option, and there is a "Back" button at the bottom.</a:t>
            </a:r>
          </a:p>
          <a:p>
            <a:r>
              <a:rPr lang="en-GB" dirty="0" smtClean="0">
                <a:effectLst/>
              </a:rPr>
              <a:t> </a:t>
            </a:r>
          </a:p>
          <a:p>
            <a:endParaRPr lang="en-ZA" dirty="0"/>
          </a:p>
        </p:txBody>
      </p:sp>
    </p:spTree>
    <p:extLst>
      <p:ext uri="{BB962C8B-B14F-4D97-AF65-F5344CB8AC3E}">
        <p14:creationId xmlns:p14="http://schemas.microsoft.com/office/powerpoint/2010/main" val="270713819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00B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ZA" dirty="0" smtClean="0"/>
              <a:t>6 Months Course Details</a:t>
            </a:r>
            <a:endParaRPr lang="en-ZA" dirty="0"/>
          </a:p>
        </p:txBody>
      </p:sp>
      <p:pic>
        <p:nvPicPr>
          <p:cNvPr id="16" name="Content Placeholder 10"/>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458585" y="1628800"/>
            <a:ext cx="4035829" cy="453650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7" name="Content Placeholder 16"/>
          <p:cNvSpPr>
            <a:spLocks noGrp="1"/>
          </p:cNvSpPr>
          <p:nvPr>
            <p:ph sz="half" idx="2"/>
          </p:nvPr>
        </p:nvSpPr>
        <p:spPr/>
        <p:txBody>
          <a:bodyPr>
            <a:normAutofit fontScale="62500" lnSpcReduction="20000"/>
          </a:bodyPr>
          <a:lstStyle/>
          <a:p>
            <a:r>
              <a:rPr lang="en-GB" dirty="0" smtClean="0">
                <a:effectLst/>
              </a:rPr>
              <a:t>This is a detailed page for the Landscaping course from the 6-month programme.</a:t>
            </a:r>
          </a:p>
          <a:p>
            <a:r>
              <a:rPr lang="en-GB" b="1" dirty="0" smtClean="0"/>
              <a:t>Course:</a:t>
            </a:r>
            <a:r>
              <a:rPr lang="en-GB" dirty="0" smtClean="0"/>
              <a:t> Landscaping</a:t>
            </a:r>
          </a:p>
          <a:p>
            <a:r>
              <a:rPr lang="en-GB" b="1" dirty="0" smtClean="0"/>
              <a:t>Price:</a:t>
            </a:r>
            <a:r>
              <a:rPr lang="en-GB" dirty="0" smtClean="0"/>
              <a:t> R1500</a:t>
            </a:r>
          </a:p>
          <a:p>
            <a:r>
              <a:rPr lang="en-GB" b="1" dirty="0" smtClean="0"/>
              <a:t>Content Covered:</a:t>
            </a:r>
            <a:r>
              <a:rPr lang="en-GB" dirty="0" smtClean="0"/>
              <a:t> Working with indigenous/exotic plants, garden layout and aesthetics, designing with structures, and balancing plants/</a:t>
            </a:r>
            <a:r>
              <a:rPr lang="en-GB" dirty="0" err="1" smtClean="0"/>
              <a:t>colors</a:t>
            </a:r>
            <a:r>
              <a:rPr lang="en-GB" dirty="0" smtClean="0"/>
              <a:t>.</a:t>
            </a:r>
          </a:p>
          <a:p>
            <a:r>
              <a:rPr lang="en-GB" dirty="0" smtClean="0"/>
              <a:t>It includes a "Back to 6 Month Courses" link and a "Click to Email" button to book.</a:t>
            </a:r>
          </a:p>
          <a:p>
            <a:r>
              <a:rPr lang="en-GB" b="1" dirty="0" smtClean="0">
                <a:effectLst/>
              </a:rPr>
              <a:t>Image (8).jpeg: 6-Month Courses</a:t>
            </a:r>
          </a:p>
          <a:p>
            <a:r>
              <a:rPr lang="en-GB" dirty="0" smtClean="0">
                <a:effectLst/>
              </a:rPr>
              <a:t>This page lists the four comprehensive courses in the 6-month programme, each priced at R1500.</a:t>
            </a:r>
          </a:p>
          <a:p>
            <a:endParaRPr lang="en-ZA" dirty="0"/>
          </a:p>
        </p:txBody>
      </p:sp>
    </p:spTree>
    <p:extLst>
      <p:ext uri="{BB962C8B-B14F-4D97-AF65-F5344CB8AC3E}">
        <p14:creationId xmlns:p14="http://schemas.microsoft.com/office/powerpoint/2010/main" val="211309271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609600" y="188640"/>
            <a:ext cx="8229600" cy="1143000"/>
          </a:xfrm>
          <a:prstGeom prst="rect">
            <a:avLst/>
          </a:prstGeom>
          <a:solidFill>
            <a:srgbClr val="00B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ZA" dirty="0"/>
          </a:p>
        </p:txBody>
      </p:sp>
      <p:sp>
        <p:nvSpPr>
          <p:cNvPr id="2" name="Title 1"/>
          <p:cNvSpPr>
            <a:spLocks noGrp="1"/>
          </p:cNvSpPr>
          <p:nvPr>
            <p:ph type="title"/>
          </p:nvPr>
        </p:nvSpPr>
        <p:spPr/>
        <p:txBody>
          <a:bodyPr/>
          <a:lstStyle/>
          <a:p>
            <a:r>
              <a:rPr lang="en-ZA" dirty="0" smtClean="0"/>
              <a:t>6 Weeks Courses</a:t>
            </a:r>
            <a:endParaRPr lang="en-ZA" dirty="0"/>
          </a:p>
        </p:txBody>
      </p:sp>
      <p:pic>
        <p:nvPicPr>
          <p:cNvPr id="6" name="Content Placeholder 4"/>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4649585" y="1556793"/>
            <a:ext cx="4035829" cy="366136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7" name="Content Placeholder 6"/>
          <p:cNvSpPr>
            <a:spLocks noGrp="1"/>
          </p:cNvSpPr>
          <p:nvPr>
            <p:ph sz="half" idx="1"/>
          </p:nvPr>
        </p:nvSpPr>
        <p:spPr/>
        <p:txBody>
          <a:bodyPr>
            <a:normAutofit fontScale="70000" lnSpcReduction="20000"/>
          </a:bodyPr>
          <a:lstStyle/>
          <a:p>
            <a:r>
              <a:rPr lang="en-GB" dirty="0" smtClean="0">
                <a:effectLst/>
              </a:rPr>
              <a:t>This page lists three short courses, each priced at R750.</a:t>
            </a:r>
          </a:p>
          <a:p>
            <a:r>
              <a:rPr lang="en-GB" b="1" dirty="0" smtClean="0"/>
              <a:t>Child Minding:</a:t>
            </a:r>
            <a:r>
              <a:rPr lang="en-GB" dirty="0" smtClean="0"/>
              <a:t> Focuses on basic child and baby care skills.</a:t>
            </a:r>
          </a:p>
          <a:p>
            <a:r>
              <a:rPr lang="en-GB" b="1" dirty="0" smtClean="0"/>
              <a:t>Cooking:</a:t>
            </a:r>
            <a:r>
              <a:rPr lang="en-GB" dirty="0" smtClean="0"/>
              <a:t> Teaches how to prepare and cook nutritious family meals.</a:t>
            </a:r>
          </a:p>
          <a:p>
            <a:r>
              <a:rPr lang="en-GB" b="1" dirty="0" smtClean="0"/>
              <a:t>Garden Maintenance:</a:t>
            </a:r>
            <a:r>
              <a:rPr lang="en-GB" dirty="0" smtClean="0"/>
              <a:t> Provides basic knowledge on watering, pruning, and planting.</a:t>
            </a:r>
          </a:p>
          <a:p>
            <a:r>
              <a:rPr lang="en-GB" dirty="0" smtClean="0"/>
              <a:t>Each course has a "Read More" and "Purchase" option.</a:t>
            </a:r>
          </a:p>
          <a:p>
            <a:r>
              <a:rPr lang="en-GB" dirty="0" smtClean="0"/>
              <a:t>The page ends with a "Book" button and standard footer information.</a:t>
            </a:r>
          </a:p>
          <a:p>
            <a:endParaRPr lang="en-ZA" dirty="0"/>
          </a:p>
        </p:txBody>
      </p:sp>
    </p:spTree>
    <p:extLst>
      <p:ext uri="{BB962C8B-B14F-4D97-AF65-F5344CB8AC3E}">
        <p14:creationId xmlns:p14="http://schemas.microsoft.com/office/powerpoint/2010/main" val="312529293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609600" y="188640"/>
            <a:ext cx="8229600" cy="1143000"/>
          </a:xfrm>
          <a:prstGeom prst="rect">
            <a:avLst/>
          </a:prstGeom>
          <a:solidFill>
            <a:srgbClr val="00B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ZA" dirty="0"/>
          </a:p>
        </p:txBody>
      </p:sp>
      <p:sp>
        <p:nvSpPr>
          <p:cNvPr id="2" name="Title 1"/>
          <p:cNvSpPr>
            <a:spLocks noGrp="1"/>
          </p:cNvSpPr>
          <p:nvPr>
            <p:ph type="title"/>
          </p:nvPr>
        </p:nvSpPr>
        <p:spPr/>
        <p:txBody>
          <a:bodyPr/>
          <a:lstStyle/>
          <a:p>
            <a:r>
              <a:rPr lang="en-ZA" dirty="0" smtClean="0"/>
              <a:t>6 Weeks Course Details </a:t>
            </a:r>
            <a:endParaRPr lang="en-ZA" dirty="0"/>
          </a:p>
        </p:txBody>
      </p:sp>
      <p:sp>
        <p:nvSpPr>
          <p:cNvPr id="4" name="Content Placeholder 3"/>
          <p:cNvSpPr>
            <a:spLocks noGrp="1"/>
          </p:cNvSpPr>
          <p:nvPr>
            <p:ph sz="half" idx="2"/>
          </p:nvPr>
        </p:nvSpPr>
        <p:spPr/>
        <p:txBody>
          <a:bodyPr>
            <a:normAutofit fontScale="92500" lnSpcReduction="10000"/>
          </a:bodyPr>
          <a:lstStyle/>
          <a:p>
            <a:r>
              <a:rPr lang="en-GB" b="1" dirty="0" smtClean="0"/>
              <a:t>Course:</a:t>
            </a:r>
            <a:r>
              <a:rPr lang="en-GB" dirty="0" smtClean="0"/>
              <a:t> Cooking</a:t>
            </a:r>
          </a:p>
          <a:p>
            <a:r>
              <a:rPr lang="en-GB" b="1" dirty="0" smtClean="0"/>
              <a:t>Price:</a:t>
            </a:r>
            <a:r>
              <a:rPr lang="en-GB" dirty="0" smtClean="0"/>
              <a:t> R750</a:t>
            </a:r>
          </a:p>
          <a:p>
            <a:r>
              <a:rPr lang="en-GB" b="1" dirty="0" smtClean="0"/>
              <a:t>Content Covered:</a:t>
            </a:r>
            <a:r>
              <a:rPr lang="en-GB" dirty="0" smtClean="0"/>
              <a:t> Nutritional requirements, food types, meal planning, recipes, and meal preparation/cooking.</a:t>
            </a:r>
          </a:p>
          <a:p>
            <a:r>
              <a:rPr lang="en-GB" dirty="0" smtClean="0"/>
              <a:t>The main call to action is a "Click to Enrol" button to book the course.</a:t>
            </a:r>
          </a:p>
          <a:p>
            <a:endParaRPr lang="en-ZA" dirty="0"/>
          </a:p>
        </p:txBody>
      </p:sp>
      <p:pic>
        <p:nvPicPr>
          <p:cNvPr id="7" name="Content Placeholder 6"/>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457200" y="1772816"/>
            <a:ext cx="4038600" cy="432048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17708179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609600" y="188640"/>
            <a:ext cx="8229600" cy="1143000"/>
          </a:xfrm>
          <a:prstGeom prst="rect">
            <a:avLst/>
          </a:prstGeom>
          <a:solidFill>
            <a:srgbClr val="00B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ZA" dirty="0"/>
          </a:p>
        </p:txBody>
      </p:sp>
      <p:sp>
        <p:nvSpPr>
          <p:cNvPr id="2" name="Title 1"/>
          <p:cNvSpPr>
            <a:spLocks noGrp="1"/>
          </p:cNvSpPr>
          <p:nvPr>
            <p:ph type="title"/>
          </p:nvPr>
        </p:nvSpPr>
        <p: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r>
              <a:rPr lang="en-ZA" dirty="0" smtClean="0"/>
              <a:t>Course Purchase Page</a:t>
            </a:r>
            <a:endParaRPr lang="en-ZA" dirty="0"/>
          </a:p>
        </p:txBody>
      </p:sp>
      <p:sp>
        <p:nvSpPr>
          <p:cNvPr id="3" name="Content Placeholder 2"/>
          <p:cNvSpPr>
            <a:spLocks noGrp="1"/>
          </p:cNvSpPr>
          <p:nvPr>
            <p:ph sz="half" idx="1"/>
          </p:nvPr>
        </p:nvSpPr>
        <p:spPr/>
        <p:txBody>
          <a:bodyPr>
            <a:normAutofit fontScale="85000" lnSpcReduction="10000"/>
          </a:bodyPr>
          <a:lstStyle/>
          <a:p>
            <a:r>
              <a:rPr lang="en-GB" dirty="0" smtClean="0">
                <a:effectLst/>
              </a:rPr>
              <a:t>This is a course selection page with a built-in calculator.</a:t>
            </a:r>
          </a:p>
          <a:p>
            <a:r>
              <a:rPr lang="en-GB" b="1" dirty="0" smtClean="0"/>
              <a:t>6-Month Courses:</a:t>
            </a:r>
            <a:r>
              <a:rPr lang="en-GB" dirty="0" smtClean="0"/>
              <a:t> First Aid, Sewing, Landscaping, Life Skills (R1500 each).</a:t>
            </a:r>
          </a:p>
          <a:p>
            <a:r>
              <a:rPr lang="en-GB" b="1" dirty="0" smtClean="0"/>
              <a:t>6-Week Courses:</a:t>
            </a:r>
            <a:r>
              <a:rPr lang="en-GB" dirty="0" smtClean="0"/>
              <a:t> Child Minding, Cooking, Garden Maintenance (R750 each).</a:t>
            </a:r>
          </a:p>
          <a:p>
            <a:r>
              <a:rPr lang="en-GB" dirty="0" smtClean="0"/>
              <a:t>The purpose is for users to select their courses and see a calculated total cost.</a:t>
            </a:r>
          </a:p>
          <a:p>
            <a:endParaRPr lang="en-ZA" dirty="0"/>
          </a:p>
        </p:txBody>
      </p:sp>
      <p:pic>
        <p:nvPicPr>
          <p:cNvPr id="2050" name="Picture 2"/>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4648200" y="1556792"/>
            <a:ext cx="4038600" cy="453650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2216841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609600" y="188640"/>
            <a:ext cx="8229600" cy="1143000"/>
          </a:xfrm>
          <a:prstGeom prst="rect">
            <a:avLst/>
          </a:prstGeom>
          <a:solidFill>
            <a:srgbClr val="00B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ZA" dirty="0"/>
          </a:p>
        </p:txBody>
      </p:sp>
      <p:sp>
        <p:nvSpPr>
          <p:cNvPr id="2" name="Title 1"/>
          <p:cNvSpPr>
            <a:spLocks noGrp="1"/>
          </p:cNvSpPr>
          <p:nvPr>
            <p:ph type="title"/>
          </p:nvPr>
        </p:nvSpPr>
        <p: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r>
              <a:rPr lang="en-ZA" dirty="0" smtClean="0"/>
              <a:t>Registration Form</a:t>
            </a:r>
            <a:endParaRPr lang="en-ZA" dirty="0"/>
          </a:p>
        </p:txBody>
      </p:sp>
      <p:sp>
        <p:nvSpPr>
          <p:cNvPr id="3" name="Content Placeholder 2"/>
          <p:cNvSpPr>
            <a:spLocks noGrp="1"/>
          </p:cNvSpPr>
          <p:nvPr>
            <p:ph sz="half" idx="1"/>
          </p:nvPr>
        </p:nvSpPr>
        <p:spPr/>
        <p:txBody>
          <a:bodyPr>
            <a:normAutofit fontScale="70000" lnSpcReduction="20000"/>
          </a:bodyPr>
          <a:lstStyle/>
          <a:p>
            <a:endParaRPr lang="en-ZA"/>
          </a:p>
        </p:txBody>
      </p:sp>
      <p:sp>
        <p:nvSpPr>
          <p:cNvPr id="4" name="Content Placeholder 3"/>
          <p:cNvSpPr>
            <a:spLocks noGrp="1"/>
          </p:cNvSpPr>
          <p:nvPr>
            <p:ph sz="half" idx="2"/>
          </p:nvPr>
        </p:nvSpPr>
        <p:spPr/>
        <p:txBody>
          <a:bodyPr>
            <a:normAutofit fontScale="70000" lnSpcReduction="20000"/>
          </a:bodyPr>
          <a:lstStyle/>
          <a:p>
            <a:r>
              <a:rPr lang="en-GB" dirty="0" smtClean="0"/>
              <a:t>The </a:t>
            </a:r>
            <a:r>
              <a:rPr lang="en-GB" i="1" dirty="0" smtClean="0"/>
              <a:t>Empowering the Nation</a:t>
            </a:r>
            <a:r>
              <a:rPr lang="en-GB" dirty="0" smtClean="0"/>
              <a:t> registration page allows users to easily enrol for one or more courses online. It includes fields for the user’s full name, email, and phone number, as well as checkboxes to select courses such as First Aid, Sewing, and Life Skills. The page features a clean, professional design with a “Submit” button to send registration details directly to the system. This form simplifies the enrolment process, ensures accurate data collection, and supports automatic discounts for multiple course selections.</a:t>
            </a:r>
            <a:endParaRPr lang="en-ZA" dirty="0"/>
          </a:p>
        </p:txBody>
      </p:sp>
      <p:pic>
        <p:nvPicPr>
          <p:cNvPr id="5" name="Content Placeholder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7200" y="1628800"/>
            <a:ext cx="4038600" cy="394289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69763344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00B050"/>
          </a:solidFill>
          <a:ln>
            <a:noFill/>
          </a:ln>
          <a:effectLst>
            <a:glow rad="63500">
              <a:schemeClr val="accent1">
                <a:satMod val="175000"/>
                <a:alpha val="40000"/>
              </a:schemeClr>
            </a:glow>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ZA" dirty="0" smtClean="0"/>
              <a:t>Success Page</a:t>
            </a:r>
            <a:endParaRPr lang="en-ZA" dirty="0"/>
          </a:p>
        </p:txBody>
      </p:sp>
      <p:sp>
        <p:nvSpPr>
          <p:cNvPr id="10" name="Content Placeholder 9"/>
          <p:cNvSpPr>
            <a:spLocks noGrp="1"/>
          </p:cNvSpPr>
          <p:nvPr>
            <p:ph sz="half" idx="2"/>
          </p:nvPr>
        </p:nvSpPr>
        <p:spPr/>
        <p:txBody>
          <a:bodyPr>
            <a:normAutofit fontScale="70000" lnSpcReduction="20000"/>
          </a:bodyPr>
          <a:lstStyle/>
          <a:p>
            <a:r>
              <a:rPr lang="en-GB" dirty="0" smtClean="0">
                <a:effectLst/>
              </a:rPr>
              <a:t>This is a </a:t>
            </a:r>
            <a:r>
              <a:rPr lang="en-GB" b="1" dirty="0" smtClean="0">
                <a:effectLst/>
              </a:rPr>
              <a:t>payment confirmation and invoice page</a:t>
            </a:r>
            <a:r>
              <a:rPr lang="en-GB" dirty="0" smtClean="0">
                <a:effectLst/>
              </a:rPr>
              <a:t> for "Empowering the Nation."</a:t>
            </a:r>
            <a:endParaRPr lang="en-GB" dirty="0" smtClean="0"/>
          </a:p>
          <a:p>
            <a:r>
              <a:rPr lang="en-GB" b="1" dirty="0" smtClean="0"/>
              <a:t>Selected Courses:</a:t>
            </a:r>
            <a:r>
              <a:rPr lang="en-GB" dirty="0" smtClean="0"/>
              <a:t> Landscaping, Life Skills, and (likely) Cooking.</a:t>
            </a:r>
          </a:p>
          <a:p>
            <a:r>
              <a:rPr lang="en-GB" b="1" dirty="0" smtClean="0"/>
              <a:t>Cost Breakdown:</a:t>
            </a:r>
            <a:endParaRPr lang="en-GB" dirty="0" smtClean="0"/>
          </a:p>
          <a:p>
            <a:pPr lvl="1"/>
            <a:r>
              <a:rPr lang="en-GB" dirty="0" smtClean="0"/>
              <a:t>Subtotal: R 4500.00</a:t>
            </a:r>
          </a:p>
          <a:p>
            <a:pPr lvl="1"/>
            <a:r>
              <a:rPr lang="en-GB" dirty="0" smtClean="0"/>
              <a:t>Discount: R 675.00 (15%)</a:t>
            </a:r>
          </a:p>
          <a:p>
            <a:pPr lvl="1"/>
            <a:r>
              <a:rPr lang="en-GB" dirty="0" smtClean="0"/>
              <a:t>VAT (15%): R 573.75</a:t>
            </a:r>
          </a:p>
          <a:p>
            <a:pPr lvl="1"/>
            <a:r>
              <a:rPr lang="en-GB" b="1" dirty="0" smtClean="0"/>
              <a:t>Total Amount Due:</a:t>
            </a:r>
            <a:r>
              <a:rPr lang="en-GB" dirty="0" smtClean="0"/>
              <a:t> R 4398.75</a:t>
            </a:r>
          </a:p>
          <a:p>
            <a:r>
              <a:rPr lang="en-GB" b="1" dirty="0" smtClean="0"/>
              <a:t>Status:</a:t>
            </a:r>
            <a:r>
              <a:rPr lang="en-GB" dirty="0" smtClean="0"/>
              <a:t> Enrolment is confirmed as successful.</a:t>
            </a:r>
          </a:p>
          <a:p>
            <a:r>
              <a:rPr lang="en-GB" b="1" dirty="0" smtClean="0"/>
              <a:t>Next Steps:</a:t>
            </a:r>
            <a:r>
              <a:rPr lang="en-GB" dirty="0" smtClean="0"/>
              <a:t> The user can click "OK" or "Proceed to Email" to presumably receive their course details via email.</a:t>
            </a:r>
          </a:p>
          <a:p>
            <a:endParaRPr lang="en-ZA" dirty="0"/>
          </a:p>
        </p:txBody>
      </p:sp>
      <p:pic>
        <p:nvPicPr>
          <p:cNvPr id="3074" name="Picture 2"/>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457200" y="1628800"/>
            <a:ext cx="4038600" cy="446449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5382401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00B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ZA" dirty="0" smtClean="0"/>
              <a:t>Contact Page</a:t>
            </a:r>
            <a:endParaRPr lang="en-ZA" dirty="0"/>
          </a:p>
        </p:txBody>
      </p:sp>
      <p:pic>
        <p:nvPicPr>
          <p:cNvPr id="10" name="Content Placeholder 5"/>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4651663" y="1824485"/>
            <a:ext cx="4031673" cy="407739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1" name="Content Placeholder 10"/>
          <p:cNvSpPr>
            <a:spLocks noGrp="1"/>
          </p:cNvSpPr>
          <p:nvPr>
            <p:ph sz="half" idx="1"/>
          </p:nvPr>
        </p:nvSpPr>
        <p:spPr/>
        <p:txBody>
          <a:bodyPr>
            <a:normAutofit fontScale="92500" lnSpcReduction="20000"/>
          </a:bodyPr>
          <a:lstStyle/>
          <a:p>
            <a:r>
              <a:rPr lang="en-GB" dirty="0" smtClean="0">
                <a:effectLst/>
              </a:rPr>
              <a:t>This is a "Get in Touch" page with contact details and detailed venue information.</a:t>
            </a:r>
          </a:p>
          <a:p>
            <a:r>
              <a:rPr lang="en-GB" b="1" dirty="0" smtClean="0"/>
              <a:t>Contact Info:</a:t>
            </a:r>
            <a:r>
              <a:rPr lang="en-GB" dirty="0" smtClean="0"/>
              <a:t> Phone number (+27 11 456 7890), email, and general location (Johannesburg).</a:t>
            </a:r>
          </a:p>
          <a:p>
            <a:r>
              <a:rPr lang="en-GB" b="1" dirty="0" smtClean="0"/>
              <a:t>Training Venues:</a:t>
            </a:r>
            <a:r>
              <a:rPr lang="en-GB" dirty="0" smtClean="0"/>
              <a:t> Provides specific addresses and nearby landmarks for three campuses: </a:t>
            </a:r>
            <a:r>
              <a:rPr lang="en-GB" dirty="0" err="1" smtClean="0"/>
              <a:t>Sandton</a:t>
            </a:r>
            <a:r>
              <a:rPr lang="en-GB" dirty="0" smtClean="0"/>
              <a:t>, Soweto, and </a:t>
            </a:r>
            <a:r>
              <a:rPr lang="en-GB" dirty="0" err="1" smtClean="0"/>
              <a:t>Randburg</a:t>
            </a:r>
            <a:r>
              <a:rPr lang="en-GB" dirty="0" smtClean="0"/>
              <a:t>.</a:t>
            </a:r>
          </a:p>
          <a:p>
            <a:endParaRPr lang="en-ZA" dirty="0"/>
          </a:p>
        </p:txBody>
      </p:sp>
    </p:spTree>
    <p:extLst>
      <p:ext uri="{BB962C8B-B14F-4D97-AF65-F5344CB8AC3E}">
        <p14:creationId xmlns:p14="http://schemas.microsoft.com/office/powerpoint/2010/main" val="209350261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07504" y="1196752"/>
            <a:ext cx="8712968" cy="5632311"/>
          </a:xfrm>
          <a:prstGeom prst="rect">
            <a:avLst/>
          </a:prstGeom>
        </p:spPr>
        <p:txBody>
          <a:bodyPr wrap="square">
            <a:spAutoFit/>
          </a:bodyPr>
          <a:lstStyle/>
          <a:p>
            <a:r>
              <a:rPr lang="en-GB" dirty="0" smtClean="0"/>
              <a:t>The </a:t>
            </a:r>
            <a:r>
              <a:rPr lang="en-GB" i="1" dirty="0" smtClean="0"/>
              <a:t>Empowering the Nation</a:t>
            </a:r>
            <a:r>
              <a:rPr lang="en-GB" dirty="0" smtClean="0"/>
              <a:t> website directly addresses the challenges faced by Precious </a:t>
            </a:r>
            <a:r>
              <a:rPr lang="en-GB" dirty="0" err="1" smtClean="0"/>
              <a:t>Radebe’s</a:t>
            </a:r>
            <a:r>
              <a:rPr lang="en-GB" dirty="0" smtClean="0"/>
              <a:t> training business by creating a professional and accessible online presence. The website provides a digital platform where potential learners, domestic workers, gardeners, and employers can easily access information about the available courses, prices, and benefits.</a:t>
            </a:r>
          </a:p>
          <a:p>
            <a:r>
              <a:rPr lang="en-GB" dirty="0" smtClean="0"/>
              <a:t> By showcasing both six-month and six-week training programmes, the website promotes the organization’s services to a wider audience beyond the local community.</a:t>
            </a:r>
          </a:p>
          <a:p>
            <a:r>
              <a:rPr lang="en-GB" dirty="0" smtClean="0"/>
              <a:t>Through the website, customers can conveniently browse courses, read detailed descriptions, and request information or quotations online without having to visit the training centre in person. The built-in functionality for submitting requests and receiving quotes streamlines communication, making it easier for Precious to manage enquiries and respond to potential clients efficiently.</a:t>
            </a:r>
          </a:p>
          <a:p>
            <a:r>
              <a:rPr lang="en-GB" dirty="0" smtClean="0"/>
              <a:t> Additionally, the website’s structure supports multiple course selections and can automatically apply discounts based on the number of courses chosen—ensuring fair and transparent pricing.</a:t>
            </a:r>
          </a:p>
          <a:p>
            <a:r>
              <a:rPr lang="en-GB" dirty="0" smtClean="0"/>
              <a:t>The professional design, use of suitable images, colours, and fonts reinforces the credibility of the business and reflects its goal of empowerment and skill development. By making course details and registration easily available online, the website helps increase enrolment, improves marketing visibility, and supports Precious’s mission to uplift her community by providing accessible skills training.</a:t>
            </a:r>
            <a:endParaRPr lang="en-GB" dirty="0"/>
          </a:p>
        </p:txBody>
      </p:sp>
      <p:sp>
        <p:nvSpPr>
          <p:cNvPr id="4" name="Rectangle 3"/>
          <p:cNvSpPr/>
          <p:nvPr/>
        </p:nvSpPr>
        <p:spPr>
          <a:xfrm>
            <a:off x="395536" y="332656"/>
            <a:ext cx="7992888" cy="792088"/>
          </a:xfrm>
          <a:prstGeom prst="rect">
            <a:avLst/>
          </a:prstGeom>
          <a:solidFill>
            <a:srgbClr val="00B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2800" b="1" dirty="0" smtClean="0">
                <a:solidFill>
                  <a:schemeClr val="tx1"/>
                </a:solidFill>
              </a:rPr>
              <a:t>How the system is going to solve the problem</a:t>
            </a:r>
            <a:endParaRPr lang="en-ZA" sz="2800" b="1" dirty="0">
              <a:solidFill>
                <a:schemeClr val="tx1"/>
              </a:solidFill>
            </a:endParaRPr>
          </a:p>
        </p:txBody>
      </p:sp>
    </p:spTree>
    <p:extLst>
      <p:ext uri="{BB962C8B-B14F-4D97-AF65-F5344CB8AC3E}">
        <p14:creationId xmlns:p14="http://schemas.microsoft.com/office/powerpoint/2010/main" val="199981112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50106"/>
          </a:xfrm>
          <a:solidFill>
            <a:srgbClr val="00B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ZA" dirty="0" smtClean="0"/>
              <a:t>System Requirements</a:t>
            </a:r>
            <a:endParaRPr lang="en-ZA" dirty="0"/>
          </a:p>
        </p:txBody>
      </p:sp>
      <p:sp>
        <p:nvSpPr>
          <p:cNvPr id="5" name="Rounded Rectangle 4"/>
          <p:cNvSpPr/>
          <p:nvPr/>
        </p:nvSpPr>
        <p:spPr>
          <a:xfrm>
            <a:off x="683568" y="1177616"/>
            <a:ext cx="7920880" cy="5563751"/>
          </a:xfrm>
          <a:prstGeom prst="round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2800" b="1" dirty="0" smtClean="0">
                <a:solidFill>
                  <a:srgbClr val="002060"/>
                </a:solidFill>
              </a:rPr>
              <a:t>Functional Requirements</a:t>
            </a:r>
          </a:p>
          <a:p>
            <a:pPr algn="ctr"/>
            <a:r>
              <a:rPr lang="en-ZA" sz="2000" b="1" dirty="0" smtClean="0">
                <a:solidFill>
                  <a:schemeClr val="tx1"/>
                </a:solidFill>
              </a:rPr>
              <a:t>1.Course Display</a:t>
            </a:r>
          </a:p>
          <a:p>
            <a:pPr algn="ctr"/>
            <a:r>
              <a:rPr lang="en-ZA" dirty="0" smtClean="0"/>
              <a:t>The website displays a list of all available six-weeks and six-months courses, including course names, descriptions, prices and images</a:t>
            </a:r>
          </a:p>
          <a:p>
            <a:pPr algn="ctr"/>
            <a:r>
              <a:rPr lang="en-ZA" sz="2000" b="1" dirty="0" smtClean="0">
                <a:solidFill>
                  <a:schemeClr val="tx1"/>
                </a:solidFill>
              </a:rPr>
              <a:t>2.Course Selection &amp; Discount Application</a:t>
            </a:r>
          </a:p>
          <a:p>
            <a:pPr algn="ctr"/>
            <a:r>
              <a:rPr lang="en-ZA" dirty="0" smtClean="0"/>
              <a:t>Users can select multiple courses, and the system calculates discounts automatically</a:t>
            </a:r>
          </a:p>
          <a:p>
            <a:pPr algn="ctr"/>
            <a:r>
              <a:rPr lang="en-ZA" sz="2000" b="1" dirty="0" smtClean="0">
                <a:solidFill>
                  <a:schemeClr val="tx1"/>
                </a:solidFill>
              </a:rPr>
              <a:t>3.Quote Request &amp; Submission</a:t>
            </a:r>
          </a:p>
          <a:p>
            <a:pPr algn="ctr"/>
            <a:r>
              <a:rPr lang="en-ZA" dirty="0" smtClean="0"/>
              <a:t>Customers are able to submit a quote or request more information about selected courses through the website</a:t>
            </a:r>
          </a:p>
          <a:p>
            <a:pPr algn="ctr"/>
            <a:r>
              <a:rPr lang="en-ZA" sz="2000" b="1" dirty="0" smtClean="0">
                <a:solidFill>
                  <a:schemeClr val="tx1"/>
                </a:solidFill>
              </a:rPr>
              <a:t>4.Navigation</a:t>
            </a:r>
          </a:p>
          <a:p>
            <a:pPr algn="ctr"/>
            <a:r>
              <a:rPr lang="en-ZA" dirty="0" smtClean="0"/>
              <a:t>The website has a working navigation links that allows users to move easily between pages</a:t>
            </a:r>
          </a:p>
          <a:p>
            <a:pPr algn="ctr"/>
            <a:r>
              <a:rPr lang="en-ZA" sz="2000" b="1" dirty="0" smtClean="0">
                <a:solidFill>
                  <a:schemeClr val="tx1"/>
                </a:solidFill>
              </a:rPr>
              <a:t>5.User Registration and Enrolment</a:t>
            </a:r>
          </a:p>
          <a:p>
            <a:pPr algn="ctr"/>
            <a:r>
              <a:rPr lang="en-ZA" dirty="0" smtClean="0"/>
              <a:t>User must be able to fill in a registration form with their name, email, and phone numbers and select one or more courses to enrol in</a:t>
            </a:r>
          </a:p>
          <a:p>
            <a:pPr algn="ctr"/>
            <a:r>
              <a:rPr lang="en-ZA" sz="2000" b="1" dirty="0" smtClean="0">
                <a:solidFill>
                  <a:schemeClr val="tx1"/>
                </a:solidFill>
              </a:rPr>
              <a:t>6.Social Media Integration</a:t>
            </a:r>
          </a:p>
          <a:p>
            <a:pPr algn="ctr"/>
            <a:r>
              <a:rPr lang="en-ZA" dirty="0" smtClean="0"/>
              <a:t>Links to social media platforms are included for external communication and marketing</a:t>
            </a:r>
            <a:endParaRPr lang="en-ZA" dirty="0"/>
          </a:p>
        </p:txBody>
      </p:sp>
    </p:spTree>
    <p:extLst>
      <p:ext uri="{BB962C8B-B14F-4D97-AF65-F5344CB8AC3E}">
        <p14:creationId xmlns:p14="http://schemas.microsoft.com/office/powerpoint/2010/main" val="215433342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107504" y="0"/>
            <a:ext cx="9036496" cy="6858000"/>
          </a:xfrm>
          <a:prstGeom prst="roundRect">
            <a:avLst/>
          </a:prstGeom>
          <a:solidFill>
            <a:srgbClr val="00B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2000" b="1" dirty="0" smtClean="0"/>
          </a:p>
          <a:p>
            <a:pPr algn="ctr"/>
            <a:r>
              <a:rPr lang="en-ZA" sz="2000" b="1" dirty="0" smtClean="0"/>
              <a:t>Non Functional Requirements</a:t>
            </a:r>
          </a:p>
          <a:p>
            <a:pPr marL="457200" indent="-457200" algn="ctr">
              <a:buAutoNum type="arabicPeriod"/>
            </a:pPr>
            <a:r>
              <a:rPr lang="en-ZA" sz="2000" b="1" dirty="0" smtClean="0">
                <a:solidFill>
                  <a:schemeClr val="tx1"/>
                </a:solidFill>
              </a:rPr>
              <a:t>Usability</a:t>
            </a:r>
          </a:p>
          <a:p>
            <a:pPr algn="ctr"/>
            <a:r>
              <a:rPr lang="en-ZA" sz="2000" dirty="0" smtClean="0"/>
              <a:t>The website is easy to navigate, with clear labels, readable fonts, and a consistent layout across all pages.</a:t>
            </a:r>
          </a:p>
          <a:p>
            <a:pPr algn="ctr"/>
            <a:r>
              <a:rPr lang="en-ZA" sz="2000" b="1" dirty="0" smtClean="0">
                <a:solidFill>
                  <a:schemeClr val="tx1"/>
                </a:solidFill>
              </a:rPr>
              <a:t>2.Perfomance</a:t>
            </a:r>
          </a:p>
          <a:p>
            <a:pPr algn="ctr"/>
            <a:r>
              <a:rPr lang="en-ZA" sz="2000" dirty="0" smtClean="0"/>
              <a:t>Pages load quickly, and all links and buttons responds promptly to users actions</a:t>
            </a:r>
          </a:p>
          <a:p>
            <a:pPr algn="ctr"/>
            <a:r>
              <a:rPr lang="en-ZA" sz="2000" b="1" dirty="0" smtClean="0">
                <a:solidFill>
                  <a:schemeClr val="tx1"/>
                </a:solidFill>
              </a:rPr>
              <a:t>3. Reliability</a:t>
            </a:r>
          </a:p>
          <a:p>
            <a:pPr algn="ctr"/>
            <a:r>
              <a:rPr lang="en-ZA" sz="2000" dirty="0" smtClean="0"/>
              <a:t>The system can handle multiple users accessing course information or submitting forms without errors</a:t>
            </a:r>
          </a:p>
          <a:p>
            <a:pPr algn="ctr"/>
            <a:r>
              <a:rPr lang="en-ZA" sz="2000" b="1" dirty="0">
                <a:solidFill>
                  <a:schemeClr val="tx1"/>
                </a:solidFill>
              </a:rPr>
              <a:t>4</a:t>
            </a:r>
            <a:r>
              <a:rPr lang="en-ZA" sz="2000" b="1" dirty="0" smtClean="0">
                <a:solidFill>
                  <a:schemeClr val="tx1"/>
                </a:solidFill>
              </a:rPr>
              <a:t>.Security</a:t>
            </a:r>
          </a:p>
          <a:p>
            <a:pPr algn="ctr"/>
            <a:r>
              <a:rPr lang="en-ZA" sz="2000" dirty="0" smtClean="0"/>
              <a:t>User data is securely stored and protected from unauthorised access</a:t>
            </a:r>
          </a:p>
          <a:p>
            <a:pPr algn="ctr"/>
            <a:r>
              <a:rPr lang="en-ZA" sz="2000" b="1" dirty="0">
                <a:solidFill>
                  <a:schemeClr val="tx1"/>
                </a:solidFill>
              </a:rPr>
              <a:t>5</a:t>
            </a:r>
            <a:r>
              <a:rPr lang="en-ZA" sz="2000" b="1" dirty="0" smtClean="0">
                <a:solidFill>
                  <a:schemeClr val="tx1"/>
                </a:solidFill>
              </a:rPr>
              <a:t>.Compatibility</a:t>
            </a:r>
          </a:p>
          <a:p>
            <a:pPr algn="ctr"/>
            <a:r>
              <a:rPr lang="en-ZA" sz="2000" dirty="0" smtClean="0"/>
              <a:t>The website works correctly or different devices and across major web browsers</a:t>
            </a:r>
          </a:p>
          <a:p>
            <a:pPr algn="ctr"/>
            <a:r>
              <a:rPr lang="en-ZA" sz="2000" b="1" dirty="0">
                <a:solidFill>
                  <a:schemeClr val="tx1"/>
                </a:solidFill>
              </a:rPr>
              <a:t>6</a:t>
            </a:r>
            <a:r>
              <a:rPr lang="en-ZA" sz="2000" b="1" dirty="0" smtClean="0">
                <a:solidFill>
                  <a:schemeClr val="tx1"/>
                </a:solidFill>
              </a:rPr>
              <a:t>.Maintance</a:t>
            </a:r>
          </a:p>
          <a:p>
            <a:pPr algn="ctr"/>
            <a:r>
              <a:rPr lang="en-ZA" sz="2000" dirty="0" smtClean="0"/>
              <a:t>The website is easy for administrators to update, such as adding new courses or changing prices, without major technical skills</a:t>
            </a:r>
          </a:p>
          <a:p>
            <a:pPr algn="ctr"/>
            <a:r>
              <a:rPr lang="en-ZA" sz="2000" b="1" dirty="0">
                <a:solidFill>
                  <a:schemeClr val="tx1"/>
                </a:solidFill>
              </a:rPr>
              <a:t>7</a:t>
            </a:r>
            <a:r>
              <a:rPr lang="en-ZA" sz="2000" b="1" dirty="0" smtClean="0">
                <a:solidFill>
                  <a:schemeClr val="tx1"/>
                </a:solidFill>
              </a:rPr>
              <a:t>.Availability</a:t>
            </a:r>
          </a:p>
          <a:p>
            <a:pPr algn="ctr"/>
            <a:r>
              <a:rPr lang="en-ZA" sz="2000" dirty="0" smtClean="0"/>
              <a:t>The website is </a:t>
            </a:r>
            <a:r>
              <a:rPr lang="en-ZA" sz="2000" dirty="0" err="1" smtClean="0"/>
              <a:t>accesseble</a:t>
            </a:r>
            <a:r>
              <a:rPr lang="en-ZA" sz="2000" dirty="0" smtClean="0"/>
              <a:t> to users at all times to allow enrolments and course browsing without downtime</a:t>
            </a:r>
          </a:p>
          <a:p>
            <a:pPr algn="ctr"/>
            <a:r>
              <a:rPr lang="en-ZA" sz="2000" b="1" dirty="0">
                <a:solidFill>
                  <a:schemeClr val="tx1"/>
                </a:solidFill>
              </a:rPr>
              <a:t>8</a:t>
            </a:r>
            <a:r>
              <a:rPr lang="en-ZA" sz="2000" b="1" dirty="0" smtClean="0">
                <a:solidFill>
                  <a:schemeClr val="tx1"/>
                </a:solidFill>
              </a:rPr>
              <a:t>.Design &amp; Consistency</a:t>
            </a:r>
          </a:p>
          <a:p>
            <a:pPr algn="ctr"/>
            <a:r>
              <a:rPr lang="en-ZA" sz="2000" dirty="0" smtClean="0"/>
              <a:t>Colour, images, and fonts reflects a professional and empowering brand image aligned with the organisation’s goals</a:t>
            </a:r>
          </a:p>
          <a:p>
            <a:pPr algn="ctr"/>
            <a:endParaRPr lang="en-ZA" sz="2000" dirty="0"/>
          </a:p>
        </p:txBody>
      </p:sp>
    </p:spTree>
    <p:extLst>
      <p:ext uri="{BB962C8B-B14F-4D97-AF65-F5344CB8AC3E}">
        <p14:creationId xmlns:p14="http://schemas.microsoft.com/office/powerpoint/2010/main" val="52221876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00B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r>
              <a:rPr lang="en-ZA" dirty="0" smtClean="0"/>
              <a:t>Data Flow Diagram</a:t>
            </a:r>
            <a:endParaRPr lang="en-ZA"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560" y="1556792"/>
            <a:ext cx="7739295" cy="5157515"/>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Tree>
    <p:extLst>
      <p:ext uri="{BB962C8B-B14F-4D97-AF65-F5344CB8AC3E}">
        <p14:creationId xmlns:p14="http://schemas.microsoft.com/office/powerpoint/2010/main" val="31345887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00B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r>
              <a:rPr lang="en-ZA" dirty="0" smtClean="0"/>
              <a:t>Use Case Diagram</a:t>
            </a:r>
            <a:endParaRPr lang="en-ZA"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608" y="1727334"/>
            <a:ext cx="7199828" cy="4798010"/>
          </a:xfrm>
          <a:prstGeom prst="roundRect">
            <a:avLst>
              <a:gd name="adj" fmla="val 8594"/>
            </a:avLst>
          </a:prstGeom>
          <a:solidFill>
            <a:srgbClr val="FFFFFF">
              <a:shade val="85000"/>
            </a:srgbClr>
          </a:solidFill>
          <a:ln>
            <a:noFill/>
          </a:ln>
          <a:effectLst>
            <a:outerShdw blurRad="44450" dist="27940" dir="5400000" algn="ctr">
              <a:srgbClr val="000000">
                <a:alpha val="32000"/>
              </a:srgbClr>
            </a:outerShdw>
            <a:reflection blurRad="12700" stA="38000" endPos="28000" dist="5000" dir="5400000" sy="-100000" algn="bl" rotWithShape="0"/>
          </a:effectLst>
          <a:scene3d>
            <a:camera prst="orthographicFront">
              <a:rot lat="0" lon="0" rev="0"/>
            </a:camera>
            <a:lightRig rig="balanced" dir="t">
              <a:rot lat="0" lon="0" rev="8700000"/>
            </a:lightRig>
          </a:scene3d>
          <a:sp3d>
            <a:bevelT w="190500" h="38100"/>
          </a:sp3d>
        </p:spPr>
      </p:pic>
    </p:spTree>
    <p:extLst>
      <p:ext uri="{BB962C8B-B14F-4D97-AF65-F5344CB8AC3E}">
        <p14:creationId xmlns:p14="http://schemas.microsoft.com/office/powerpoint/2010/main" val="346235596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624"/>
            <a:ext cx="8229600" cy="1143000"/>
          </a:xfrm>
          <a:solidFill>
            <a:srgbClr val="00B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r>
              <a:rPr lang="en-ZA" dirty="0" smtClean="0"/>
              <a:t>Demonstration of Website</a:t>
            </a:r>
            <a:endParaRPr lang="en-ZA" dirty="0"/>
          </a:p>
        </p:txBody>
      </p:sp>
      <p:sp>
        <p:nvSpPr>
          <p:cNvPr id="3" name="Rounded Rectangle 2"/>
          <p:cNvSpPr/>
          <p:nvPr/>
        </p:nvSpPr>
        <p:spPr>
          <a:xfrm>
            <a:off x="107504" y="1268760"/>
            <a:ext cx="8856984" cy="5400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dirty="0" smtClean="0">
                <a:solidFill>
                  <a:schemeClr val="tx1"/>
                </a:solidFill>
              </a:rPr>
              <a:t>The </a:t>
            </a:r>
            <a:r>
              <a:rPr lang="en-GB" sz="2000" i="1" dirty="0" smtClean="0">
                <a:solidFill>
                  <a:schemeClr val="tx1"/>
                </a:solidFill>
              </a:rPr>
              <a:t>Empowering the Nation</a:t>
            </a:r>
            <a:r>
              <a:rPr lang="en-GB" sz="2000" dirty="0" smtClean="0">
                <a:solidFill>
                  <a:schemeClr val="tx1"/>
                </a:solidFill>
              </a:rPr>
              <a:t> website demonstration showcases how users can easily navigate and interact with the platform. The homepage introduces the organization and allows visitors to choose between six-month and six-week training programmes. Each course page displays detailed information, including course titles, images, prices, and short descriptions, along with buttons to read more or purchase a course. The demonstration highlights the website’s user-friendly layout, consistent design, and accessible navigation through the Home, About, Courses, and Contact pages. It also shows how users can request more information, view discounts when selecting multiple courses, and connect with the organization through social media links in the footer. Overall, the demonstration illustrates how the website effectively promotes the business, simplifies communication with customers, and encourages online course enrolment</a:t>
            </a:r>
            <a:endParaRPr lang="en-ZA" sz="2000" dirty="0">
              <a:solidFill>
                <a:schemeClr val="tx1"/>
              </a:solidFill>
            </a:endParaRPr>
          </a:p>
        </p:txBody>
      </p:sp>
    </p:spTree>
    <p:extLst>
      <p:ext uri="{BB962C8B-B14F-4D97-AF65-F5344CB8AC3E}">
        <p14:creationId xmlns:p14="http://schemas.microsoft.com/office/powerpoint/2010/main" val="391873336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00B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r>
              <a:rPr lang="en-ZA" dirty="0" smtClean="0"/>
              <a:t>Demonstration of Mobile App</a:t>
            </a:r>
            <a:endParaRPr lang="en-ZA" dirty="0"/>
          </a:p>
        </p:txBody>
      </p:sp>
      <p:sp>
        <p:nvSpPr>
          <p:cNvPr id="3" name="Rounded Rectangle 2"/>
          <p:cNvSpPr/>
          <p:nvPr/>
        </p:nvSpPr>
        <p:spPr>
          <a:xfrm>
            <a:off x="251520" y="1556792"/>
            <a:ext cx="8640960" cy="5112568"/>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dirty="0" smtClean="0">
                <a:solidFill>
                  <a:schemeClr val="tx1"/>
                </a:solidFill>
              </a:rPr>
              <a:t>The </a:t>
            </a:r>
            <a:r>
              <a:rPr lang="en-GB" sz="2000" i="1" dirty="0" smtClean="0">
                <a:solidFill>
                  <a:schemeClr val="tx1"/>
                </a:solidFill>
              </a:rPr>
              <a:t>Empowering the Nation</a:t>
            </a:r>
            <a:r>
              <a:rPr lang="en-GB" sz="2000" dirty="0" smtClean="0">
                <a:solidFill>
                  <a:schemeClr val="tx1"/>
                </a:solidFill>
              </a:rPr>
              <a:t> mobile app demonstration showcases how users can access the same training services conveniently from their smartphones. The app features a simple and responsive interface where users can browse available six-week and six-month courses, view prices, and read short course descriptions. It also demonstrates how customers can select multiple courses, automatically receive discounts, and submit requests for quotations or additional information directly through the app. The demonstration highlights easy navigation, quick access to contact details, and notifications for updates or promotions. Overall, the app provides a practical and accessible way for learners and employers to engage with the organization anytime, anywhere.</a:t>
            </a:r>
            <a:endParaRPr lang="en-ZA" sz="2000" dirty="0">
              <a:solidFill>
                <a:schemeClr val="tx1"/>
              </a:solidFill>
            </a:endParaRPr>
          </a:p>
        </p:txBody>
      </p:sp>
    </p:spTree>
    <p:extLst>
      <p:ext uri="{BB962C8B-B14F-4D97-AF65-F5344CB8AC3E}">
        <p14:creationId xmlns:p14="http://schemas.microsoft.com/office/powerpoint/2010/main" val="327694276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2822</TotalTime>
  <Words>2078</Words>
  <Application>Microsoft Office PowerPoint</Application>
  <PresentationFormat>On-screen Show (4:3)</PresentationFormat>
  <Paragraphs>156</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Work Integrated Learning XHAW5112</vt:lpstr>
      <vt:lpstr>PowerPoint Presentation</vt:lpstr>
      <vt:lpstr>Introductionc</vt:lpstr>
      <vt:lpstr>PowerPoint Presentation</vt:lpstr>
      <vt:lpstr>Problem Statement</vt:lpstr>
      <vt:lpstr>Website Overview</vt:lpstr>
      <vt:lpstr>Home Page</vt:lpstr>
      <vt:lpstr>About Us Page</vt:lpstr>
      <vt:lpstr>Courses Page</vt:lpstr>
      <vt:lpstr>6 Months Courses</vt:lpstr>
      <vt:lpstr>6 Months Course Details</vt:lpstr>
      <vt:lpstr>6 Weeks Courses</vt:lpstr>
      <vt:lpstr>6 Weeks Course Details </vt:lpstr>
      <vt:lpstr>Course Purchase Page</vt:lpstr>
      <vt:lpstr>Registration Form</vt:lpstr>
      <vt:lpstr>Success Page</vt:lpstr>
      <vt:lpstr>Contact Page</vt:lpstr>
      <vt:lpstr>PowerPoint Presentation</vt:lpstr>
      <vt:lpstr>System Requirements</vt:lpstr>
      <vt:lpstr>PowerPoint Presentation</vt:lpstr>
      <vt:lpstr>Data Flow Diagram</vt:lpstr>
      <vt:lpstr>Use Case Diagram</vt:lpstr>
      <vt:lpstr>Demonstration of Website</vt:lpstr>
      <vt:lpstr>Demonstration of Mobile App</vt:lpstr>
    </vt:vector>
  </TitlesOfParts>
  <Company>HP Inc.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 Integrated Learning</dc:title>
  <dc:creator>dbe</dc:creator>
  <cp:lastModifiedBy>dbe</cp:lastModifiedBy>
  <cp:revision>29</cp:revision>
  <dcterms:created xsi:type="dcterms:W3CDTF">2025-11-01T17:41:45Z</dcterms:created>
  <dcterms:modified xsi:type="dcterms:W3CDTF">2025-11-03T16:44:10Z</dcterms:modified>
</cp:coreProperties>
</file>